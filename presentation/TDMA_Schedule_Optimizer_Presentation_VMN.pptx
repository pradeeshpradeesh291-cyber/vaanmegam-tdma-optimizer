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respected evaluation panel members. Today, I am excited to present my complete solution for the Wireless Protocol Development Internship at Vaan Megam Networks. In this project, I have designed and implemented a centralized TDMA Schedule Planner &amp; Optimizer. Part 1 develops the mathematical Brain using NetworkX to construct Distance-2 conflict graphs and solve collision-free time-slot assignment with aggressive spatial reuse using a greedy Largest Degree First heuristic. Part 2 implements the integration bridge for EMANE (Extendable Mobile Ad-hoc Network Emulator), translating the optimized schedule into native XML event profiles for physical layer enforcement. Over the next few slides, I will walk you through the RF interference physics, graph transformations, algorithm complexity, empirical results on the 16-node grid, and the EMANE emulation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see the holistic system architecture. The solution is separated into two high-performance tiers: The Network Brain takes JSON coordinates, builds the 1-hop physical graph G1 for 500m range, elevates it into a 2-hop conflict graph G2, and applies Largest Degree First greedy graph coloring. The verifier ensures zero collisions across all 1-hop and 2-hop edges. Tier 2 takes this schedule and translates it into an EMANE XML profile with 1ms slots, configuring &lt;tx&gt; and &lt;rx&gt; permissions per NEM. In our 16-node dense grid benchmark, we achieve 100% collision avoidance, an optimal 9-slot frame, and up to 4 simultaneous concurrent transmissions.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breaks down the wireless interference physics that govern tactical ad-hoc networks. In wireless TDMA, we face two fundamental collision modes: First, Direct Link Interference (Distance-1): If Node A and Node B are connected by an edge in G1 (within 500m), they cannot use the same slot due to half-duplex hardware constraints. Second, the Hidden Terminal Collision (Distance-2): If Node A and Node C both transmit to Node B, they are out of range of each other, but their RF energy collides at Node B, destroying both frames. Therefore, any two nodes sharing a common neighbor must also have distinct time slots! However, if two nodes are separated by 3 hops or more, there is zero receiver overlap. They can safely reuse the same slot—this is the foundational mechanism of Spatial Reuse.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4, we examine the mathematical reduction that powers our algorithm. We model the radio nodes as a Unit Disk Graph G1 where edges exist if Euclidean distance is within 500m. Then, we construct the conflict graph G2, which is mathematically the square of G1: G2 = G1^2. In G2, an edge exists between two nodes if and only if they are within 2 hops in G1. This elegant reduction allows us to convert the complex two-hop wireless scheduling constraint into a standard, well-studied vertex coloring problem on G2! Any proper coloring on G2 guarantees both 1-hop and 2-hop collision freedom, and automatically permits spatial reuse for any node pair not connected in G2.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details the core optimization heuristic. Since finding the minimal chromatic number is NP-hard, an exact solver like Integer Linear Programming scales exponentially and would freeze a tactical radio in the field. Instead, we apply the Welsh-Powell / Largest Degree First (LDF) heuristic. We compute the degree of each node in the conflict graph G2 and sort them in descending order. The node with the most 2-hop constraints is colored first. For each subsequent node, we perform a greedy first-fit lookup, choosing the lowest integer slot index not used by its conflict neighbors. This heuristic executes in under 2 milliseconds and packs slots tightly, maximizing spatial reuse.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6, we demonstrate proof of correctness and quantify spatial reuse. In a classical non-reused TDMA network, 16 nodes would take 16 time slots. Our optimizer packs this into 9 slots, giving an immediate 1.78x boost in aggregate network throughput. Crucially, Slot 8 achieves 4-way concurrent transmission across the four corner nodes of the deployment. Furthermore, we built a formal verification engine in verify_schedule(). It exhaustively checks every single edge in the conflict graph G2. If even one pair of radios in 1-hop or 2-hop proximity shared a slot, it would fail immediately. The verification passes 100%, proving mathematical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shows the empirical results on the standard 16-node grid deployment specified in the problem statement. Nodes are positioned in a 4x4 grid with 300-meter spacing. At a 500m radio range, radios can communicate with horizontal, vertical, and diagonal neighbors. On the left, you see the physical network topology G1 with the transmission range circle illustrated. On the right, you see the nodes colored by their optimized TDMA time slots. Notice how the corner nodes—N00 at (0,0), N03 at (900,0), N12 at (0,900), and N15 at (900,900)—are all safely assigned Slot 8. Because they are separated by 3 hops across the grid, none of their neighbors interfere with each other.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displays the structural Slot x Node schedule matrix and verifies strict compliance with the prompt deliverables. The heatmap on the left visually illustrates concurrency: Slots 0 through 3 handle single-node transmissions for the dense central nodes. Slots 4 through 7 achieve 2x concurrency. Slot 8 achieves 4x concurrency with 4 nodes active simultaneously. The CLI accepts standard JSON coordinates and outputs both the node-to-slot mapping and the clean ASCII boolean matrix required by the specification.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transitions to Part 2: The Physical Emulator using EMANE. EMANE is the industry standard for tactical wireless protocol emulation. Each radio node is an independent NEM (Network Emulation Module) connected via virtual Ethernet interfaces. The TDMA BDCE (Basic Discrete Collision Event) model controls transmission and reception boundaries with microsecond precision. Our approach deploys EMANE in a consolidated Linux Docker container. This allows scalable multi-node testing on any Linux machine or VM without requiring expensive SDR RF front-ends.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highlights the integration bridge emane_bridge.py. The bridge translates the abstract graph coloring output into EMANE's native XML event schema. It constructs the tdmaschedule structure with 1 frame and 9 slots, specifying a 1000-microsecond (1 millisecond) slot duration. It then iterates over each NEM, binding its allocated time slot to frequency channel 0 with explicit transmit (&lt;tx&gt;) and receive (&lt;rx&gt;) permissions. This automates the entire pipeline from raw Cartesian coordinates to a validated simulation event profile.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addresses key architectural trade-offs that show mature engineering thinking. First, why centralized TDMA? It eliminates in-band control collision and provides globally optimal frame compression. Second, why 1ms slots? In tactical communications, voice and missile telemetry require bounded latency. A 9ms frame cycle guarantees maximum delivery delay under 9 milliseconds. Third, why LDF heuristic over exact ILP? An exact ILP solver cannot scale when radios move rapidly. Our heuristic solves the problem in 2 milliseconds. Finally, handling mobility: when topology changes, local delta-updates can adjust slots without full network recalibration.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prepares for the technical defense with the panel. If asked why Distance-2 is sufficient and what about Distance-3: Distance-2 eliminates hard collisions at the MAC layer. Distance-3 interference is cumulative noise, which EMANE's physical layer SINR curves evaluate accurately. If asked about node mobility: We propose periodic heartbeat monitoring and localized slot migration using Kempe chains so we don't disrupt the whole frame. If asked about relevance to Vaan Megam Networks: This scheduler applies directly to tactical MANET SDR waveforms, 5G NR Sidelink, and Non-Terrestrial Networks (NTN) where deterministic collision avoidance is paramount.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built a complete, robust, and mathematically verified centralized TDMA scheduling brain and EMANE emulation bridge. Part 1 fully satisfies the mandatory requirements with Distance-2 graph coloring, spatial reuse, and CLI reporting. Part 2 fulfills the physical emulation criteria by dynamically generating compliant XML profiles for EMANE's TDMA radio model. All code, documentation, and this presentation deck are organized within the Git repository. I am eager to demonstrate the software live, answer any technical questions, and contribute to Vaan Megam Networks' groundbreaking work in tactical communications.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914400"/>
            <a:ext cx="3840480" cy="365760"/>
          </a:xfrm>
          <a:prstGeom prst="roundRect">
            <a:avLst/>
          </a:prstGeom>
          <a:solidFill>
            <a:srgbClr val="1E3A8A"/>
          </a:solidFill>
          <a:ln w="1524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BFDBFE"/>
                </a:solidFill>
              </a:defRPr>
            </a:pPr>
            <a:r>
              <a:t>VAAN MEGAM NETWORKS  |  IITM PRAVARTAK</a:t>
            </a:r>
          </a:p>
        </p:txBody>
      </p:sp>
      <p:sp>
        <p:nvSpPr>
          <p:cNvPr id="4" name="TextBox 3"/>
          <p:cNvSpPr txBox="1"/>
          <p:nvPr/>
        </p:nvSpPr>
        <p:spPr>
          <a:xfrm>
            <a:off x="731520" y="1463040"/>
            <a:ext cx="10698480" cy="2011680"/>
          </a:xfrm>
          <a:prstGeom prst="rect">
            <a:avLst/>
          </a:prstGeom>
          <a:noFill/>
        </p:spPr>
        <p:txBody>
          <a:bodyPr wrap="square">
            <a:spAutoFit/>
          </a:bodyPr>
          <a:lstStyle/>
          <a:p>
            <a:pPr>
              <a:lnSpc>
                <a:spcPct val="115000"/>
              </a:lnSpc>
              <a:defRPr sz="3600" b="1">
                <a:solidFill>
                  <a:srgbClr val="FFFFFF"/>
                </a:solidFill>
              </a:defRPr>
            </a:pPr>
            <a:r>
              <a:t>Centralized TDMA Schedule Planner</a:t>
            </a:r>
            <a:br/>
            <a:r>
              <a:t>&amp; Optimizer with EMANE Emulation</a:t>
            </a:r>
          </a:p>
          <a:p>
            <a:pPr>
              <a:spcBef>
                <a:spcPts val="1600"/>
              </a:spcBef>
              <a:defRPr sz="1400">
                <a:solidFill>
                  <a:srgbClr val="93C5FD"/>
                </a:solidFill>
              </a:defRPr>
            </a:pPr>
            <a:r>
              <a:t>Distance-2 Graph Coloring, Spatial Reuse Optimization, and Physical Layer Packet Enforcement for Tactical SDR &amp; MANET Networks</a:t>
            </a:r>
          </a:p>
        </p:txBody>
      </p:sp>
      <p:sp>
        <p:nvSpPr>
          <p:cNvPr id="5" name="Rounded Rectangle 4"/>
          <p:cNvSpPr/>
          <p:nvPr/>
        </p:nvSpPr>
        <p:spPr>
          <a:xfrm>
            <a:off x="731520" y="3840480"/>
            <a:ext cx="3383280" cy="164592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28600" tIns="228600"/>
          <a:lstStyle/>
          <a:p>
            <a:pPr algn="ctr">
              <a:defRPr sz="1100" b="1">
                <a:solidFill>
                  <a:srgbClr val="2563EB"/>
                </a:solidFill>
              </a:defRPr>
            </a:pPr>
            <a:r>
              <a:t>FOCUS DOMAIN</a:t>
            </a:r>
          </a:p>
          <a:p>
            <a:pPr>
              <a:spcBef>
                <a:spcPts val="800"/>
              </a:spcBef>
              <a:defRPr sz="1150">
                <a:solidFill>
                  <a:srgbClr val="94A3B8"/>
                </a:solidFill>
              </a:defRPr>
            </a:pPr>
            <a:r>
              <a:t>Wireless Protocol Development</a:t>
            </a:r>
            <a:br/>
            <a:r>
              <a:t>5G Private Networks &amp; SDR</a:t>
            </a:r>
          </a:p>
        </p:txBody>
      </p:sp>
      <p:sp>
        <p:nvSpPr>
          <p:cNvPr id="6" name="Rounded Rectangle 5"/>
          <p:cNvSpPr/>
          <p:nvPr/>
        </p:nvSpPr>
        <p:spPr>
          <a:xfrm>
            <a:off x="4389120" y="3840480"/>
            <a:ext cx="3383280" cy="1645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28600" tIns="228600"/>
          <a:lstStyle/>
          <a:p>
            <a:pPr algn="ctr">
              <a:defRPr sz="1100" b="1">
                <a:solidFill>
                  <a:srgbClr val="10B981"/>
                </a:solidFill>
              </a:defRPr>
            </a:pPr>
            <a:r>
              <a:t>PART 1: THE BRAIN</a:t>
            </a:r>
          </a:p>
          <a:p>
            <a:pPr>
              <a:spcBef>
                <a:spcPts val="800"/>
              </a:spcBef>
              <a:defRPr sz="1150">
                <a:solidFill>
                  <a:srgbClr val="94A3B8"/>
                </a:solidFill>
              </a:defRPr>
            </a:pPr>
            <a:r>
              <a:t>Python Distance-2 Graph Engine</a:t>
            </a:r>
            <a:br/>
            <a:r>
              <a:t>Largest Degree First Heuristic</a:t>
            </a:r>
          </a:p>
        </p:txBody>
      </p:sp>
      <p:sp>
        <p:nvSpPr>
          <p:cNvPr id="7" name="Rounded Rectangle 6"/>
          <p:cNvSpPr/>
          <p:nvPr/>
        </p:nvSpPr>
        <p:spPr>
          <a:xfrm>
            <a:off x="8046720" y="3840480"/>
            <a:ext cx="3383280" cy="16459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tIns="228600"/>
          <a:lstStyle/>
          <a:p>
            <a:pPr algn="ctr">
              <a:defRPr sz="1100" b="1">
                <a:solidFill>
                  <a:srgbClr val="F59E0B"/>
                </a:solidFill>
              </a:defRPr>
            </a:pPr>
            <a:r>
              <a:t>PART 2: THE EMULATOR</a:t>
            </a:r>
          </a:p>
          <a:p>
            <a:pPr>
              <a:spcBef>
                <a:spcPts val="800"/>
              </a:spcBef>
              <a:defRPr sz="1150">
                <a:solidFill>
                  <a:srgbClr val="94A3B8"/>
                </a:solidFill>
              </a:defRPr>
            </a:pPr>
            <a:r>
              <a:t>EMANE TDMA BDCE Integration</a:t>
            </a:r>
            <a:br/>
            <a:r>
              <a:t>Automated XML Bridge Generation</a:t>
            </a:r>
          </a:p>
        </p:txBody>
      </p:sp>
      <p:sp>
        <p:nvSpPr>
          <p:cNvPr id="8" name="TextBox 7"/>
          <p:cNvSpPr txBox="1"/>
          <p:nvPr/>
        </p:nvSpPr>
        <p:spPr>
          <a:xfrm>
            <a:off x="731520" y="5760720"/>
            <a:ext cx="10698480" cy="457200"/>
          </a:xfrm>
          <a:prstGeom prst="rect">
            <a:avLst/>
          </a:prstGeom>
          <a:noFill/>
        </p:spPr>
        <p:txBody>
          <a:bodyPr wrap="none">
            <a:spAutoFit/>
          </a:bodyPr>
          <a:lstStyle/>
          <a:p>
            <a:pPr>
              <a:defRPr sz="1050">
                <a:solidFill>
                  <a:srgbClr val="94A3B8"/>
                </a:solidFill>
              </a:defRPr>
            </a:pPr>
            <a:r>
              <a:t>Candidate: devpradeesh  |  Submission: Full-Time 6-Month Wireless Protocol Development Internship  |  Date: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5603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50" b="1">
                <a:solidFill>
                  <a:srgbClr val="2563EB"/>
                </a:solidFill>
              </a:defRPr>
            </a:pPr>
            <a:r>
              <a:t>EXECUTIVE SUMMARY</a:t>
            </a:r>
          </a:p>
        </p:txBody>
      </p:sp>
      <p:sp>
        <p:nvSpPr>
          <p:cNvPr id="4" name="TextBox 3"/>
          <p:cNvSpPr txBox="1"/>
          <p:nvPr/>
        </p:nvSpPr>
        <p:spPr>
          <a:xfrm>
            <a:off x="731520" y="713232"/>
            <a:ext cx="10698480" cy="502920"/>
          </a:xfrm>
          <a:prstGeom prst="rect">
            <a:avLst/>
          </a:prstGeom>
          <a:noFill/>
        </p:spPr>
        <p:txBody>
          <a:bodyPr wrap="square">
            <a:spAutoFit/>
          </a:bodyPr>
          <a:lstStyle/>
          <a:p>
            <a:pPr>
              <a:defRPr sz="2100" b="1">
                <a:solidFill>
                  <a:srgbClr val="0F172A"/>
                </a:solidFill>
              </a:defRPr>
            </a:pPr>
            <a:r>
              <a:t>System Architecture: Mathematical Brain &amp; Physical Emulator</a:t>
            </a:r>
          </a:p>
        </p:txBody>
      </p:sp>
      <p:sp>
        <p:nvSpPr>
          <p:cNvPr id="5" name="TextBox 4"/>
          <p:cNvSpPr txBox="1"/>
          <p:nvPr/>
        </p:nvSpPr>
        <p:spPr>
          <a:xfrm>
            <a:off x="731520" y="1207008"/>
            <a:ext cx="10698480" cy="347472"/>
          </a:xfrm>
          <a:prstGeom prst="rect">
            <a:avLst/>
          </a:prstGeom>
          <a:noFill/>
        </p:spPr>
        <p:txBody>
          <a:bodyPr wrap="square">
            <a:spAutoFit/>
          </a:bodyPr>
          <a:lstStyle/>
          <a:p>
            <a:pPr>
              <a:defRPr sz="1100">
                <a:solidFill>
                  <a:srgbClr val="64748B"/>
                </a:solidFill>
              </a:defRPr>
            </a:pPr>
            <a:r>
              <a:t>A closed-loop protocol optimization architecture bridging algorithmic graph theory with physical RF emulation.</a:t>
            </a:r>
          </a:p>
        </p:txBody>
      </p:sp>
      <p:sp>
        <p:nvSpPr>
          <p:cNvPr id="6" name="Rectangle 5"/>
          <p:cNvSpPr/>
          <p:nvPr/>
        </p:nvSpPr>
        <p:spPr>
          <a:xfrm>
            <a:off x="731520" y="64190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55664"/>
            <a:ext cx="8229600" cy="274320"/>
          </a:xfrm>
          <a:prstGeom prst="rect">
            <a:avLst/>
          </a:prstGeom>
          <a:noFill/>
        </p:spPr>
        <p:txBody>
          <a:bodyPr wrap="none">
            <a:spAutoFit/>
          </a:bodyPr>
          <a:lstStyle/>
          <a:p>
            <a:pPr>
              <a:defRPr sz="900">
                <a:solidFill>
                  <a:srgbClr val="64748B"/>
                </a:solidFill>
              </a:defRPr>
            </a:pPr>
            <a:r>
              <a:t>Vaan Megam Networks | TDMA Schedule Planner &amp; Optimizer | Wireless Protocol Development</a:t>
            </a:r>
          </a:p>
        </p:txBody>
      </p:sp>
      <p:sp>
        <p:nvSpPr>
          <p:cNvPr id="8" name="TextBox 7"/>
          <p:cNvSpPr txBox="1"/>
          <p:nvPr/>
        </p:nvSpPr>
        <p:spPr>
          <a:xfrm>
            <a:off x="9631375" y="6455664"/>
            <a:ext cx="1828800" cy="274320"/>
          </a:xfrm>
          <a:prstGeom prst="rect">
            <a:avLst/>
          </a:prstGeom>
          <a:noFill/>
        </p:spPr>
        <p:txBody>
          <a:bodyPr wrap="none">
            <a:spAutoFit/>
          </a:bodyPr>
          <a:lstStyle/>
          <a:p>
            <a:pPr algn="r">
              <a:defRPr sz="900" b="1">
                <a:solidFill>
                  <a:srgbClr val="64748B"/>
                </a:solidFill>
              </a:defRPr>
            </a:pPr>
            <a:r>
              <a:t>2 / 13</a:t>
            </a:r>
          </a:p>
        </p:txBody>
      </p:sp>
      <p:sp>
        <p:nvSpPr>
          <p:cNvPr id="9" name="Rounded Rectangle 8"/>
          <p:cNvSpPr/>
          <p:nvPr/>
        </p:nvSpPr>
        <p:spPr>
          <a:xfrm>
            <a:off x="731520" y="1691640"/>
            <a:ext cx="5212080" cy="32918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400" b="1">
                <a:solidFill>
                  <a:srgbClr val="2563EB"/>
                </a:solidFill>
              </a:defRPr>
            </a:pPr>
            <a:r>
              <a:t>Part 1: The Network Brain (Python Engine)</a:t>
            </a:r>
          </a:p>
          <a:p>
            <a:pPr>
              <a:spcBef>
                <a:spcPts val="600"/>
              </a:spcBef>
            </a:pPr>
            <a:r>
              <a:rPr b="1" sz="980">
                <a:solidFill>
                  <a:srgbClr val="0F172A"/>
                </a:solidFill>
              </a:rPr>
              <a:t>• Mathematical Topology Formulation: </a:t>
            </a:r>
            <a:r>
              <a:rPr sz="980">
                <a:solidFill>
                  <a:srgbClr val="64748B"/>
                </a:solidFill>
              </a:rPr>
              <a:t>Models 16 SDR radio nodes using Euclidean distance &lt;= 500m on NetworkX to build physical graph G1.</a:t>
            </a:r>
          </a:p>
          <a:p>
            <a:pPr>
              <a:spcBef>
                <a:spcPts val="600"/>
              </a:spcBef>
            </a:pPr>
            <a:r>
              <a:rPr b="1" sz="980">
                <a:solidFill>
                  <a:srgbClr val="0F172A"/>
                </a:solidFill>
              </a:rPr>
              <a:t>• Distance-2 Conflict Graph (G2 = G1^2): </a:t>
            </a:r>
            <a:r>
              <a:rPr sz="980">
                <a:solidFill>
                  <a:srgbClr val="64748B"/>
                </a:solidFill>
              </a:rPr>
              <a:t>Explicitly models direct link collisions (1-hop) and hidden terminal receiver collisions (2-hop).</a:t>
            </a:r>
          </a:p>
          <a:p>
            <a:pPr>
              <a:spcBef>
                <a:spcPts val="600"/>
              </a:spcBef>
            </a:pPr>
            <a:r>
              <a:rPr b="1" sz="980">
                <a:solidFill>
                  <a:srgbClr val="0F172A"/>
                </a:solidFill>
              </a:rPr>
              <a:t>• LDF Greedy Heuristic: </a:t>
            </a:r>
            <a:r>
              <a:rPr sz="980">
                <a:solidFill>
                  <a:srgbClr val="64748B"/>
                </a:solidFill>
              </a:rPr>
              <a:t>Sorts nodes by conflict degree; assigns minimum valid slot index to minimize recurring frame duration.</a:t>
            </a:r>
          </a:p>
          <a:p>
            <a:pPr>
              <a:spcBef>
                <a:spcPts val="600"/>
              </a:spcBef>
            </a:pPr>
            <a:r>
              <a:rPr b="1" sz="980">
                <a:solidFill>
                  <a:srgbClr val="0F172A"/>
                </a:solidFill>
              </a:rPr>
              <a:t>• Spatial Reuse Guarantee: </a:t>
            </a:r>
            <a:r>
              <a:rPr sz="980">
                <a:solidFill>
                  <a:srgbClr val="64748B"/>
                </a:solidFill>
              </a:rPr>
              <a:t>Enables nodes separated by &gt;= 3 hops to safely transmit simultaneously on identical slots.</a:t>
            </a:r>
          </a:p>
          <a:p>
            <a:pPr>
              <a:spcBef>
                <a:spcPts val="600"/>
              </a:spcBef>
            </a:pPr>
            <a:r>
              <a:rPr b="1" sz="980">
                <a:solidFill>
                  <a:srgbClr val="0F172A"/>
                </a:solidFill>
              </a:rPr>
              <a:t>• Verification Engine: </a:t>
            </a:r>
            <a:r>
              <a:rPr sz="980">
                <a:solidFill>
                  <a:srgbClr val="64748B"/>
                </a:solidFill>
              </a:rPr>
              <a:t>Performs exhaustive pairwise conflict verification across all conflict edges to ensure 100% collision-free schedules.</a:t>
            </a:r>
          </a:p>
        </p:txBody>
      </p:sp>
      <p:sp>
        <p:nvSpPr>
          <p:cNvPr id="10" name="Rounded Rectangle 9"/>
          <p:cNvSpPr/>
          <p:nvPr/>
        </p:nvSpPr>
        <p:spPr>
          <a:xfrm>
            <a:off x="6217920" y="1691640"/>
            <a:ext cx="5212080" cy="329184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400" b="1">
                <a:solidFill>
                  <a:srgbClr val="F59E0B"/>
                </a:solidFill>
              </a:defRPr>
            </a:pPr>
            <a:r>
              <a:t>Part 2: The Physical Emulator (EMANE Setup)</a:t>
            </a:r>
          </a:p>
          <a:p>
            <a:pPr>
              <a:spcBef>
                <a:spcPts val="600"/>
              </a:spcBef>
            </a:pPr>
            <a:r>
              <a:rPr b="1" sz="980">
                <a:solidFill>
                  <a:srgbClr val="0F172A"/>
                </a:solidFill>
              </a:rPr>
              <a:t>• EMANE TDMA Radio Model (BDCE): </a:t>
            </a:r>
            <a:r>
              <a:rPr sz="980">
                <a:solidFill>
                  <a:srgbClr val="64748B"/>
                </a:solidFill>
              </a:rPr>
              <a:t>Leverages EMANE's Basic Discrete Collision Event model for hardware-accurate MAC/PHY layer timing.</a:t>
            </a:r>
          </a:p>
          <a:p>
            <a:pPr>
              <a:spcBef>
                <a:spcPts val="600"/>
              </a:spcBef>
            </a:pPr>
            <a:r>
              <a:rPr b="1" sz="980">
                <a:solidFill>
                  <a:srgbClr val="0F172A"/>
                </a:solidFill>
              </a:rPr>
              <a:t>• Automated Bridge (emane_bridge.py): </a:t>
            </a:r>
            <a:r>
              <a:rPr sz="980">
                <a:solidFill>
                  <a:srgbClr val="64748B"/>
                </a:solidFill>
              </a:rPr>
              <a:t>Parses the Brain's optimized Slot-Node schedule and compiles native tdmaschedule XML event documents.</a:t>
            </a:r>
          </a:p>
          <a:p>
            <a:pPr>
              <a:spcBef>
                <a:spcPts val="600"/>
              </a:spcBef>
            </a:pPr>
            <a:r>
              <a:rPr b="1" sz="980">
                <a:solidFill>
                  <a:srgbClr val="0F172A"/>
                </a:solidFill>
              </a:rPr>
              <a:t>• Synchronized 1ms Slot Timing: </a:t>
            </a:r>
            <a:r>
              <a:rPr sz="980">
                <a:solidFill>
                  <a:srgbClr val="64748B"/>
                </a:solidFill>
              </a:rPr>
              <a:t>Configures 1000us time slots, frequency channels, and explicit &lt;tx&gt;/&lt;rx&gt; windows per Network Emulation Module (NEM).</a:t>
            </a:r>
          </a:p>
          <a:p>
            <a:pPr>
              <a:spcBef>
                <a:spcPts val="600"/>
              </a:spcBef>
            </a:pPr>
            <a:r>
              <a:rPr b="1" sz="980">
                <a:solidFill>
                  <a:srgbClr val="0F172A"/>
                </a:solidFill>
              </a:rPr>
              <a:t>• Deterministic Packet Control: </a:t>
            </a:r>
            <a:r>
              <a:rPr sz="980">
                <a:solidFill>
                  <a:srgbClr val="64748B"/>
                </a:solidFill>
              </a:rPr>
              <a:t>EMANE's OTA simulation engine drops packets that collide or violate schedule boundaries while forwarding valid transmissions.</a:t>
            </a:r>
          </a:p>
          <a:p>
            <a:pPr>
              <a:spcBef>
                <a:spcPts val="600"/>
              </a:spcBef>
            </a:pPr>
            <a:r>
              <a:rPr b="1" sz="980">
                <a:solidFill>
                  <a:srgbClr val="0F172A"/>
                </a:solidFill>
              </a:rPr>
              <a:t>• Dockerized Emulation Architecture: </a:t>
            </a:r>
            <a:r>
              <a:rPr sz="980">
                <a:solidFill>
                  <a:srgbClr val="64748B"/>
                </a:solidFill>
              </a:rPr>
              <a:t>Supports isolated multi-node emulation in Linux network namespaces without specialized physical SDR hardware.</a:t>
            </a:r>
          </a:p>
        </p:txBody>
      </p:sp>
      <p:sp>
        <p:nvSpPr>
          <p:cNvPr id="11" name="Rounded Rectangle 10"/>
          <p:cNvSpPr/>
          <p:nvPr/>
        </p:nvSpPr>
        <p:spPr>
          <a:xfrm>
            <a:off x="731520" y="5166360"/>
            <a:ext cx="2542032"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defRPr sz="1500" b="1">
                <a:solidFill>
                  <a:srgbClr val="10B981"/>
                </a:solidFill>
              </a:defRPr>
            </a:pPr>
            <a:r>
              <a:t>100% Conflict-Free</a:t>
            </a:r>
          </a:p>
          <a:p>
            <a:pPr algn="ctr">
              <a:spcBef>
                <a:spcPts val="300"/>
              </a:spcBef>
              <a:defRPr sz="950">
                <a:solidFill>
                  <a:srgbClr val="64748B"/>
                </a:solidFill>
              </a:defRPr>
            </a:pPr>
            <a:r>
              <a:t>Zero Collisions Verified</a:t>
            </a:r>
          </a:p>
        </p:txBody>
      </p:sp>
      <p:sp>
        <p:nvSpPr>
          <p:cNvPr id="12" name="Rounded Rectangle 11"/>
          <p:cNvSpPr/>
          <p:nvPr/>
        </p:nvSpPr>
        <p:spPr>
          <a:xfrm>
            <a:off x="3456432" y="5166360"/>
            <a:ext cx="2542032"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defRPr sz="1500" b="1">
                <a:solidFill>
                  <a:srgbClr val="2563EB"/>
                </a:solidFill>
              </a:defRPr>
            </a:pPr>
            <a:r>
              <a:t>9 Unique Slots</a:t>
            </a:r>
          </a:p>
          <a:p>
            <a:pPr algn="ctr">
              <a:spcBef>
                <a:spcPts val="300"/>
              </a:spcBef>
              <a:defRPr sz="950">
                <a:solidFill>
                  <a:srgbClr val="64748B"/>
                </a:solidFill>
              </a:defRPr>
            </a:pPr>
            <a:r>
              <a:t>Minimized Frame Length</a:t>
            </a:r>
          </a:p>
        </p:txBody>
      </p:sp>
      <p:sp>
        <p:nvSpPr>
          <p:cNvPr id="13" name="Rounded Rectangle 12"/>
          <p:cNvSpPr/>
          <p:nvPr/>
        </p:nvSpPr>
        <p:spPr>
          <a:xfrm>
            <a:off x="6181344" y="5166360"/>
            <a:ext cx="2542032"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defRPr sz="1500" b="1">
                <a:solidFill>
                  <a:srgbClr val="7C3AED"/>
                </a:solidFill>
              </a:defRPr>
            </a:pPr>
            <a:r>
              <a:t>Up to 4x Concurrency</a:t>
            </a:r>
          </a:p>
          <a:p>
            <a:pPr algn="ctr">
              <a:spcBef>
                <a:spcPts val="300"/>
              </a:spcBef>
              <a:defRPr sz="950">
                <a:solidFill>
                  <a:srgbClr val="64748B"/>
                </a:solidFill>
              </a:defRPr>
            </a:pPr>
            <a:r>
              <a:t>Aggressive Spatial Reuse</a:t>
            </a:r>
          </a:p>
        </p:txBody>
      </p:sp>
      <p:sp>
        <p:nvSpPr>
          <p:cNvPr id="14" name="Rounded Rectangle 13"/>
          <p:cNvSpPr/>
          <p:nvPr/>
        </p:nvSpPr>
        <p:spPr>
          <a:xfrm>
            <a:off x="8906256" y="5166360"/>
            <a:ext cx="2542032"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defRPr sz="1500" b="1">
                <a:solidFill>
                  <a:srgbClr val="0284C7"/>
                </a:solidFill>
              </a:defRPr>
            </a:pPr>
            <a:r>
              <a:t>End-to-End Pipeline</a:t>
            </a:r>
          </a:p>
          <a:p>
            <a:pPr algn="ctr">
              <a:spcBef>
                <a:spcPts val="300"/>
              </a:spcBef>
              <a:defRPr sz="950">
                <a:solidFill>
                  <a:srgbClr val="64748B"/>
                </a:solidFill>
              </a:defRPr>
            </a:pPr>
            <a:r>
              <a:t>JSON -&gt; Schedule -&gt; XML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5603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50" b="1">
                <a:solidFill>
                  <a:srgbClr val="2563EB"/>
                </a:solidFill>
              </a:defRPr>
            </a:pPr>
            <a:r>
              <a:t>PROBLEM STATEMENT</a:t>
            </a:r>
          </a:p>
        </p:txBody>
      </p:sp>
      <p:sp>
        <p:nvSpPr>
          <p:cNvPr id="4" name="TextBox 3"/>
          <p:cNvSpPr txBox="1"/>
          <p:nvPr/>
        </p:nvSpPr>
        <p:spPr>
          <a:xfrm>
            <a:off x="731520" y="713232"/>
            <a:ext cx="10698480" cy="502920"/>
          </a:xfrm>
          <a:prstGeom prst="rect">
            <a:avLst/>
          </a:prstGeom>
          <a:noFill/>
        </p:spPr>
        <p:txBody>
          <a:bodyPr wrap="square">
            <a:spAutoFit/>
          </a:bodyPr>
          <a:lstStyle/>
          <a:p>
            <a:pPr>
              <a:defRPr sz="2100" b="1">
                <a:solidFill>
                  <a:srgbClr val="0F172A"/>
                </a:solidFill>
              </a:defRPr>
            </a:pPr>
            <a:r>
              <a:t>RF Interference Physics: Distance-1 vs. Distance-2 Collisions</a:t>
            </a:r>
          </a:p>
        </p:txBody>
      </p:sp>
      <p:sp>
        <p:nvSpPr>
          <p:cNvPr id="5" name="TextBox 4"/>
          <p:cNvSpPr txBox="1"/>
          <p:nvPr/>
        </p:nvSpPr>
        <p:spPr>
          <a:xfrm>
            <a:off x="731520" y="1207008"/>
            <a:ext cx="10698480" cy="347472"/>
          </a:xfrm>
          <a:prstGeom prst="rect">
            <a:avLst/>
          </a:prstGeom>
          <a:noFill/>
        </p:spPr>
        <p:txBody>
          <a:bodyPr wrap="square">
            <a:spAutoFit/>
          </a:bodyPr>
          <a:lstStyle/>
          <a:p>
            <a:pPr>
              <a:defRPr sz="1100">
                <a:solidFill>
                  <a:srgbClr val="64748B"/>
                </a:solidFill>
              </a:defRPr>
            </a:pPr>
            <a:r>
              <a:t>Understanding half-duplex radio constraints, receiver blinding, and the hidden terminal dilemma.</a:t>
            </a:r>
          </a:p>
        </p:txBody>
      </p:sp>
      <p:sp>
        <p:nvSpPr>
          <p:cNvPr id="6" name="Rectangle 5"/>
          <p:cNvSpPr/>
          <p:nvPr/>
        </p:nvSpPr>
        <p:spPr>
          <a:xfrm>
            <a:off x="731520" y="64190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55664"/>
            <a:ext cx="8229600" cy="274320"/>
          </a:xfrm>
          <a:prstGeom prst="rect">
            <a:avLst/>
          </a:prstGeom>
          <a:noFill/>
        </p:spPr>
        <p:txBody>
          <a:bodyPr wrap="none">
            <a:spAutoFit/>
          </a:bodyPr>
          <a:lstStyle/>
          <a:p>
            <a:pPr>
              <a:defRPr sz="900">
                <a:solidFill>
                  <a:srgbClr val="64748B"/>
                </a:solidFill>
              </a:defRPr>
            </a:pPr>
            <a:r>
              <a:t>Vaan Megam Networks | TDMA Schedule Planner &amp; Optimizer | Wireless Protocol Development</a:t>
            </a:r>
          </a:p>
        </p:txBody>
      </p:sp>
      <p:sp>
        <p:nvSpPr>
          <p:cNvPr id="8" name="TextBox 7"/>
          <p:cNvSpPr txBox="1"/>
          <p:nvPr/>
        </p:nvSpPr>
        <p:spPr>
          <a:xfrm>
            <a:off x="9631375" y="6455664"/>
            <a:ext cx="1828800" cy="274320"/>
          </a:xfrm>
          <a:prstGeom prst="rect">
            <a:avLst/>
          </a:prstGeom>
          <a:noFill/>
        </p:spPr>
        <p:txBody>
          <a:bodyPr wrap="none">
            <a:spAutoFit/>
          </a:bodyPr>
          <a:lstStyle/>
          <a:p>
            <a:pPr algn="r">
              <a:defRPr sz="900" b="1">
                <a:solidFill>
                  <a:srgbClr val="64748B"/>
                </a:solidFill>
              </a:defRPr>
            </a:pPr>
            <a:r>
              <a:t>3 / 13</a:t>
            </a:r>
          </a:p>
        </p:txBody>
      </p:sp>
      <p:pic>
        <p:nvPicPr>
          <p:cNvPr id="9" name="Picture 8" descr="diagram_1_interference.png"/>
          <p:cNvPicPr>
            <a:picLocks noChangeAspect="1"/>
          </p:cNvPicPr>
          <p:nvPr/>
        </p:nvPicPr>
        <p:blipFill>
          <a:blip r:embed="rId2"/>
          <a:stretch>
            <a:fillRect/>
          </a:stretch>
        </p:blipFill>
        <p:spPr>
          <a:xfrm>
            <a:off x="731520" y="1691640"/>
            <a:ext cx="10728655" cy="4075345"/>
          </a:xfrm>
          <a:prstGeom prst="rect">
            <a:avLst/>
          </a:prstGeom>
        </p:spPr>
      </p:pic>
      <p:sp>
        <p:nvSpPr>
          <p:cNvPr id="10" name="Rounded Rectangle 9"/>
          <p:cNvSpPr/>
          <p:nvPr/>
        </p:nvSpPr>
        <p:spPr>
          <a:xfrm>
            <a:off x="731520" y="4297680"/>
            <a:ext cx="3413455" cy="19202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100" b="1">
                <a:solidFill>
                  <a:srgbClr val="2563EB"/>
                </a:solidFill>
              </a:defRPr>
            </a:pPr>
            <a:r>
              <a:t>Distance-1: Direct Link Interference</a:t>
            </a:r>
          </a:p>
          <a:p>
            <a:pPr>
              <a:lnSpc>
                <a:spcPct val="130000"/>
              </a:lnSpc>
              <a:spcBef>
                <a:spcPts val="600"/>
              </a:spcBef>
              <a:defRPr sz="900">
                <a:solidFill>
                  <a:srgbClr val="0F172A"/>
                </a:solidFill>
              </a:defRPr>
            </a:pPr>
            <a:r>
              <a:t>• Physical Constraint: Radios within 500m of each other.</a:t>
            </a:r>
            <a:br/>
            <a:r>
              <a:t>• Failure Mode: Half-duplex SDRs cannot transmit and receive simultaneously on the same channel.</a:t>
            </a:r>
            <a:br/>
            <a:r>
              <a:t>• Graph Condition: (u, v) in E1 =&gt; Slot(u) != Slot(v).</a:t>
            </a:r>
            <a:br/>
            <a:r>
              <a:t>• Impact: Node A transmits; local receiver at B is saturated/blinded.</a:t>
            </a:r>
          </a:p>
        </p:txBody>
      </p:sp>
      <p:sp>
        <p:nvSpPr>
          <p:cNvPr id="11" name="Rounded Rectangle 10"/>
          <p:cNvSpPr/>
          <p:nvPr/>
        </p:nvSpPr>
        <p:spPr>
          <a:xfrm>
            <a:off x="4389120" y="4297680"/>
            <a:ext cx="3413455" cy="192024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100" b="1">
                <a:solidFill>
                  <a:srgbClr val="DC2626"/>
                </a:solidFill>
              </a:defRPr>
            </a:pPr>
            <a:r>
              <a:t>Distance-2: Hidden Terminal Collision</a:t>
            </a:r>
          </a:p>
          <a:p>
            <a:pPr>
              <a:lnSpc>
                <a:spcPct val="130000"/>
              </a:lnSpc>
              <a:spcBef>
                <a:spcPts val="600"/>
              </a:spcBef>
              <a:defRPr sz="900">
                <a:solidFill>
                  <a:srgbClr val="0F172A"/>
                </a:solidFill>
              </a:defRPr>
            </a:pPr>
            <a:r>
              <a:t>• Physical Constraint: Radios A and C are &gt;500m apart, sharing common neighbor B.</a:t>
            </a:r>
            <a:br/>
            <a:r>
              <a:t>• Failure Mode: A and C cannot carrier-sense each other; both transmit to B at the same time.</a:t>
            </a:r>
            <a:br/>
            <a:r>
              <a:t>• Graph Condition: dist_G1(u, v) &lt;= 2 =&gt; Slot(u) != Slot(v).</a:t>
            </a:r>
            <a:br/>
            <a:r>
              <a:t>• Impact: Signals collide destructively at B; packet corrupted.</a:t>
            </a:r>
          </a:p>
        </p:txBody>
      </p:sp>
      <p:sp>
        <p:nvSpPr>
          <p:cNvPr id="12" name="Rounded Rectangle 11"/>
          <p:cNvSpPr/>
          <p:nvPr/>
        </p:nvSpPr>
        <p:spPr>
          <a:xfrm>
            <a:off x="8046720" y="4297680"/>
            <a:ext cx="3413455" cy="19202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100" b="1">
                <a:solidFill>
                  <a:srgbClr val="10B981"/>
                </a:solidFill>
              </a:defRPr>
            </a:pPr>
            <a:r>
              <a:t>Spatial Reuse Principle (&gt; 2 Hops)</a:t>
            </a:r>
          </a:p>
          <a:p>
            <a:pPr>
              <a:lnSpc>
                <a:spcPct val="130000"/>
              </a:lnSpc>
              <a:spcBef>
                <a:spcPts val="600"/>
              </a:spcBef>
              <a:defRPr sz="900">
                <a:solidFill>
                  <a:srgbClr val="0F172A"/>
                </a:solidFill>
              </a:defRPr>
            </a:pPr>
            <a:r>
              <a:t>• Physical Constraint: Radios separated by &gt;= 3 hops (dist_G1(u, v) &gt;= 3).</a:t>
            </a:r>
            <a:br/>
            <a:r>
              <a:t>• Opportunity: No common 1-hop neighbor exists to suffer receiver interference.</a:t>
            </a:r>
            <a:br/>
            <a:r>
              <a:t>• Benefit: Radios can concurrently transmit on the exact same time slot.</a:t>
            </a:r>
            <a:br/>
            <a:r>
              <a:t>• Impact: Multiplies aggregate network throughput without RF collisions.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5603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50" b="1">
                <a:solidFill>
                  <a:srgbClr val="2563EB"/>
                </a:solidFill>
              </a:defRPr>
            </a:pPr>
            <a:r>
              <a:t>MATHEMATICAL MODELING</a:t>
            </a:r>
          </a:p>
        </p:txBody>
      </p:sp>
      <p:sp>
        <p:nvSpPr>
          <p:cNvPr id="4" name="TextBox 3"/>
          <p:cNvSpPr txBox="1"/>
          <p:nvPr/>
        </p:nvSpPr>
        <p:spPr>
          <a:xfrm>
            <a:off x="731520" y="713232"/>
            <a:ext cx="10698480" cy="502920"/>
          </a:xfrm>
          <a:prstGeom prst="rect">
            <a:avLst/>
          </a:prstGeom>
          <a:noFill/>
        </p:spPr>
        <p:txBody>
          <a:bodyPr wrap="square">
            <a:spAutoFit/>
          </a:bodyPr>
          <a:lstStyle/>
          <a:p>
            <a:pPr>
              <a:defRPr sz="2100" b="1">
                <a:solidFill>
                  <a:srgbClr val="0F172A"/>
                </a:solidFill>
              </a:defRPr>
            </a:pPr>
            <a:r>
              <a:t>Graph Theory: Transforming Physical Topology to Conflict Graph</a:t>
            </a:r>
          </a:p>
        </p:txBody>
      </p:sp>
      <p:sp>
        <p:nvSpPr>
          <p:cNvPr id="5" name="TextBox 4"/>
          <p:cNvSpPr txBox="1"/>
          <p:nvPr/>
        </p:nvSpPr>
        <p:spPr>
          <a:xfrm>
            <a:off x="731520" y="1207008"/>
            <a:ext cx="10698480" cy="347472"/>
          </a:xfrm>
          <a:prstGeom prst="rect">
            <a:avLst/>
          </a:prstGeom>
          <a:noFill/>
        </p:spPr>
        <p:txBody>
          <a:bodyPr wrap="square">
            <a:spAutoFit/>
          </a:bodyPr>
          <a:lstStyle/>
          <a:p>
            <a:pPr>
              <a:defRPr sz="1100">
                <a:solidFill>
                  <a:srgbClr val="64748B"/>
                </a:solidFill>
              </a:defRPr>
            </a:pPr>
            <a:r>
              <a:t>Reducing wireless two-hop collision avoidance to standard vertex coloring on G2 = G1^2.</a:t>
            </a:r>
          </a:p>
        </p:txBody>
      </p:sp>
      <p:sp>
        <p:nvSpPr>
          <p:cNvPr id="6" name="Rectangle 5"/>
          <p:cNvSpPr/>
          <p:nvPr/>
        </p:nvSpPr>
        <p:spPr>
          <a:xfrm>
            <a:off x="731520" y="64190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55664"/>
            <a:ext cx="8229600" cy="274320"/>
          </a:xfrm>
          <a:prstGeom prst="rect">
            <a:avLst/>
          </a:prstGeom>
          <a:noFill/>
        </p:spPr>
        <p:txBody>
          <a:bodyPr wrap="none">
            <a:spAutoFit/>
          </a:bodyPr>
          <a:lstStyle/>
          <a:p>
            <a:pPr>
              <a:defRPr sz="900">
                <a:solidFill>
                  <a:srgbClr val="64748B"/>
                </a:solidFill>
              </a:defRPr>
            </a:pPr>
            <a:r>
              <a:t>Vaan Megam Networks | TDMA Schedule Planner &amp; Optimizer | Wireless Protocol Development</a:t>
            </a:r>
          </a:p>
        </p:txBody>
      </p:sp>
      <p:sp>
        <p:nvSpPr>
          <p:cNvPr id="8" name="TextBox 7"/>
          <p:cNvSpPr txBox="1"/>
          <p:nvPr/>
        </p:nvSpPr>
        <p:spPr>
          <a:xfrm>
            <a:off x="9631375" y="6455664"/>
            <a:ext cx="1828800" cy="274320"/>
          </a:xfrm>
          <a:prstGeom prst="rect">
            <a:avLst/>
          </a:prstGeom>
          <a:noFill/>
        </p:spPr>
        <p:txBody>
          <a:bodyPr wrap="none">
            <a:spAutoFit/>
          </a:bodyPr>
          <a:lstStyle/>
          <a:p>
            <a:pPr algn="r">
              <a:defRPr sz="900" b="1">
                <a:solidFill>
                  <a:srgbClr val="64748B"/>
                </a:solidFill>
              </a:defRPr>
            </a:pPr>
            <a:r>
              <a:t>4 / 13</a:t>
            </a:r>
          </a:p>
        </p:txBody>
      </p:sp>
      <p:sp>
        <p:nvSpPr>
          <p:cNvPr id="9" name="Rounded Rectangle 8"/>
          <p:cNvSpPr/>
          <p:nvPr/>
        </p:nvSpPr>
        <p:spPr>
          <a:xfrm>
            <a:off x="731520" y="1691640"/>
            <a:ext cx="3413455" cy="45262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2563EB"/>
                </a:solidFill>
              </a:defRPr>
            </a:pPr>
            <a:r>
              <a:t>1. Physical Topology Graph G1</a:t>
            </a:r>
          </a:p>
          <a:p>
            <a:pPr>
              <a:spcBef>
                <a:spcPts val="300"/>
              </a:spcBef>
              <a:defRPr sz="950">
                <a:solidFill>
                  <a:srgbClr val="64748B"/>
                </a:solidFill>
              </a:defRPr>
            </a:pPr>
            <a:r>
              <a:t>Unit Disk Graph (UDG) Formulation</a:t>
            </a:r>
          </a:p>
          <a:p>
            <a:pPr>
              <a:lnSpc>
                <a:spcPct val="130000"/>
              </a:lnSpc>
              <a:spcBef>
                <a:spcPts val="1200"/>
              </a:spcBef>
              <a:defRPr sz="950">
                <a:solidFill>
                  <a:srgbClr val="0F172A"/>
                </a:solidFill>
              </a:defRPr>
            </a:pPr>
            <a:r>
              <a:t>• Vertices: V = {Node_01, ..., Node_16}, where each node has 2D Cartesian coordinates (x_i, y_i).</a:t>
            </a:r>
            <a:br/>
            <a:br/>
            <a:r>
              <a:t>• Euclidean Distance Metric:</a:t>
            </a:r>
            <a:br/>
            <a:r>
              <a:t>  d(u, v) = sqrt((x_u - x_v)^2 + (y_u - y_v)^2)</a:t>
            </a:r>
            <a:br/>
            <a:br/>
            <a:r>
              <a:t>• Physical Edge Set E1:</a:t>
            </a:r>
            <a:br/>
            <a:r>
              <a:t>  E1 = {(u, v) in V x V | u != v, d(u, v) &lt;= 500.0m}</a:t>
            </a:r>
            <a:br/>
            <a:br/>
            <a:r>
              <a:t>• Captures direct wireless propagation limits. If two radios are within 500m line-of-sight, they form an edge in G1.</a:t>
            </a:r>
          </a:p>
        </p:txBody>
      </p:sp>
      <p:sp>
        <p:nvSpPr>
          <p:cNvPr id="10" name="Rounded Rectangle 9"/>
          <p:cNvSpPr/>
          <p:nvPr/>
        </p:nvSpPr>
        <p:spPr>
          <a:xfrm>
            <a:off x="4389120" y="1691640"/>
            <a:ext cx="3413455" cy="452628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7C3AED"/>
                </a:solidFill>
              </a:defRPr>
            </a:pPr>
            <a:r>
              <a:t>2. Interference Conflict Graph G2</a:t>
            </a:r>
          </a:p>
          <a:p>
            <a:pPr>
              <a:spcBef>
                <a:spcPts val="300"/>
              </a:spcBef>
              <a:defRPr sz="950">
                <a:solidFill>
                  <a:srgbClr val="64748B"/>
                </a:solidFill>
              </a:defRPr>
            </a:pPr>
            <a:r>
              <a:t>Graph Power Formulation (G2 = G1^2)</a:t>
            </a:r>
          </a:p>
          <a:p>
            <a:pPr>
              <a:lnSpc>
                <a:spcPct val="130000"/>
              </a:lnSpc>
              <a:spcBef>
                <a:spcPts val="1200"/>
              </a:spcBef>
              <a:defRPr sz="950">
                <a:solidFill>
                  <a:srgbClr val="0F172A"/>
                </a:solidFill>
              </a:defRPr>
            </a:pPr>
            <a:r>
              <a:t>• Vertices: Same vertex set V as G1.</a:t>
            </a:r>
            <a:br/>
            <a:br/>
            <a:r>
              <a:t>• Conflict Edge Set E2:</a:t>
            </a:r>
            <a:br/>
            <a:r>
              <a:t>  E2 = E1 U {(u, v) | exists w in V : (u, w) in E1 and (w, v) in E1}</a:t>
            </a:r>
            <a:br/>
            <a:br/>
            <a:r>
              <a:t>• Graph Power Equivalence:</a:t>
            </a:r>
            <a:br/>
            <a:r>
              <a:t>  G2 is mathematically identical to G1^2 (the square of G1), where an edge connects all nodes at distance &lt;= 2.</a:t>
            </a:r>
            <a:br/>
            <a:br/>
            <a:r>
              <a:t>• Direct link collisions (Distance-1) and hidden terminals (Distance-2) are now unified into standard edge conflicts.</a:t>
            </a:r>
          </a:p>
        </p:txBody>
      </p:sp>
      <p:sp>
        <p:nvSpPr>
          <p:cNvPr id="11" name="Rounded Rectangle 10"/>
          <p:cNvSpPr/>
          <p:nvPr/>
        </p:nvSpPr>
        <p:spPr>
          <a:xfrm>
            <a:off x="8046720" y="1691640"/>
            <a:ext cx="3413455" cy="45262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10B981"/>
                </a:solidFill>
              </a:defRPr>
            </a:pPr>
            <a:r>
              <a:t>3. Algorithmic Reduction</a:t>
            </a:r>
          </a:p>
          <a:p>
            <a:pPr>
              <a:spcBef>
                <a:spcPts val="300"/>
              </a:spcBef>
              <a:defRPr sz="950">
                <a:solidFill>
                  <a:srgbClr val="64748B"/>
                </a:solidFill>
              </a:defRPr>
            </a:pPr>
            <a:r>
              <a:t>Distance-2 to Standard Coloring</a:t>
            </a:r>
          </a:p>
          <a:p>
            <a:pPr>
              <a:lnSpc>
                <a:spcPct val="130000"/>
              </a:lnSpc>
              <a:spcBef>
                <a:spcPts val="1200"/>
              </a:spcBef>
              <a:defRPr sz="950">
                <a:solidFill>
                  <a:srgbClr val="0F172A"/>
                </a:solidFill>
              </a:defRPr>
            </a:pPr>
            <a:r>
              <a:t>• Distance-2 Coloring on G1 is formally equivalent to Distance-1 (Standard Proper Vertex Coloring) on G2:</a:t>
            </a:r>
            <a:br/>
            <a:r>
              <a:t>  ProperColoring(G2): c(u) != c(v) for all (u, v) in E2</a:t>
            </a:r>
            <a:br/>
            <a:br/>
            <a:r>
              <a:t>• Objective Function:</a:t>
            </a:r>
            <a:br/>
            <a:r>
              <a:t>  Minimize Chi(G2) (Total Unique Slots)</a:t>
            </a:r>
            <a:br/>
            <a:r>
              <a:t>  subject to: Slot(u) != Slot(v) for all (u, v) in E2</a:t>
            </a:r>
            <a:br/>
            <a:br/>
            <a:r>
              <a:t>• Spatial Reuse Theorem:</a:t>
            </a:r>
            <a:br/>
            <a:r>
              <a:t>  Slot(u) = Slot(v) &lt;=&gt; (u, v) not in E2 &lt;=&gt; dist_G1(u, v) &gt;=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5603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50" b="1">
                <a:solidFill>
                  <a:srgbClr val="2563EB"/>
                </a:solidFill>
              </a:defRPr>
            </a:pPr>
            <a:r>
              <a:t>OPTIMIZATION ALGORITHM</a:t>
            </a:r>
          </a:p>
        </p:txBody>
      </p:sp>
      <p:sp>
        <p:nvSpPr>
          <p:cNvPr id="4" name="TextBox 3"/>
          <p:cNvSpPr txBox="1"/>
          <p:nvPr/>
        </p:nvSpPr>
        <p:spPr>
          <a:xfrm>
            <a:off x="731520" y="713232"/>
            <a:ext cx="10698480" cy="502920"/>
          </a:xfrm>
          <a:prstGeom prst="rect">
            <a:avLst/>
          </a:prstGeom>
          <a:noFill/>
        </p:spPr>
        <p:txBody>
          <a:bodyPr wrap="square">
            <a:spAutoFit/>
          </a:bodyPr>
          <a:lstStyle/>
          <a:p>
            <a:pPr>
              <a:defRPr sz="2100" b="1">
                <a:solidFill>
                  <a:srgbClr val="0F172A"/>
                </a:solidFill>
              </a:defRPr>
            </a:pPr>
            <a:r>
              <a:t>Greedy Largest Degree First (LDF / Welsh-Powell) Heuristic</a:t>
            </a:r>
          </a:p>
        </p:txBody>
      </p:sp>
      <p:sp>
        <p:nvSpPr>
          <p:cNvPr id="5" name="TextBox 4"/>
          <p:cNvSpPr txBox="1"/>
          <p:nvPr/>
        </p:nvSpPr>
        <p:spPr>
          <a:xfrm>
            <a:off x="731520" y="1207008"/>
            <a:ext cx="10698480" cy="347472"/>
          </a:xfrm>
          <a:prstGeom prst="rect">
            <a:avLst/>
          </a:prstGeom>
          <a:noFill/>
        </p:spPr>
        <p:txBody>
          <a:bodyPr wrap="square">
            <a:spAutoFit/>
          </a:bodyPr>
          <a:lstStyle/>
          <a:p>
            <a:pPr>
              <a:defRPr sz="1100">
                <a:solidFill>
                  <a:srgbClr val="64748B"/>
                </a:solidFill>
              </a:defRPr>
            </a:pPr>
            <a:r>
              <a:t>Heuristic slot minimization guaranteeing NP-hard conflict resolution in O(V log V + E) time.</a:t>
            </a:r>
          </a:p>
        </p:txBody>
      </p:sp>
      <p:sp>
        <p:nvSpPr>
          <p:cNvPr id="6" name="Rectangle 5"/>
          <p:cNvSpPr/>
          <p:nvPr/>
        </p:nvSpPr>
        <p:spPr>
          <a:xfrm>
            <a:off x="731520" y="64190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55664"/>
            <a:ext cx="8229600" cy="274320"/>
          </a:xfrm>
          <a:prstGeom prst="rect">
            <a:avLst/>
          </a:prstGeom>
          <a:noFill/>
        </p:spPr>
        <p:txBody>
          <a:bodyPr wrap="none">
            <a:spAutoFit/>
          </a:bodyPr>
          <a:lstStyle/>
          <a:p>
            <a:pPr>
              <a:defRPr sz="900">
                <a:solidFill>
                  <a:srgbClr val="64748B"/>
                </a:solidFill>
              </a:defRPr>
            </a:pPr>
            <a:r>
              <a:t>Vaan Megam Networks | TDMA Schedule Planner &amp; Optimizer | Wireless Protocol Development</a:t>
            </a:r>
          </a:p>
        </p:txBody>
      </p:sp>
      <p:sp>
        <p:nvSpPr>
          <p:cNvPr id="8" name="TextBox 7"/>
          <p:cNvSpPr txBox="1"/>
          <p:nvPr/>
        </p:nvSpPr>
        <p:spPr>
          <a:xfrm>
            <a:off x="9631375" y="6455664"/>
            <a:ext cx="1828800" cy="274320"/>
          </a:xfrm>
          <a:prstGeom prst="rect">
            <a:avLst/>
          </a:prstGeom>
          <a:noFill/>
        </p:spPr>
        <p:txBody>
          <a:bodyPr wrap="none">
            <a:spAutoFit/>
          </a:bodyPr>
          <a:lstStyle/>
          <a:p>
            <a:pPr algn="r">
              <a:defRPr sz="900" b="1">
                <a:solidFill>
                  <a:srgbClr val="64748B"/>
                </a:solidFill>
              </a:defRPr>
            </a:pPr>
            <a:r>
              <a:t>5 / 13</a:t>
            </a:r>
          </a:p>
        </p:txBody>
      </p:sp>
      <p:sp>
        <p:nvSpPr>
          <p:cNvPr id="9" name="Rounded Rectangle 8"/>
          <p:cNvSpPr/>
          <p:nvPr/>
        </p:nvSpPr>
        <p:spPr>
          <a:xfrm>
            <a:off x="731520" y="1691640"/>
            <a:ext cx="6217920" cy="45262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2563EB"/>
                </a:solidFill>
              </a:defRPr>
            </a:pPr>
            <a:r>
              <a:t>Algorithmic Architecture: Largest Degree First (LDF)</a:t>
            </a:r>
          </a:p>
          <a:p>
            <a:pPr>
              <a:spcBef>
                <a:spcPts val="800"/>
              </a:spcBef>
            </a:pPr>
            <a:r>
              <a:rPr b="1" sz="950">
                <a:solidFill>
                  <a:srgbClr val="0F172A"/>
                </a:solidFill>
              </a:rPr>
              <a:t>Computational Complexity Reality: </a:t>
            </a:r>
            <a:r>
              <a:rPr sz="950">
                <a:solidFill>
                  <a:srgbClr val="64748B"/>
                </a:solidFill>
              </a:rPr>
              <a:t>Finding the optimal chromatic number Chi(G2) is NP-Complete (Garey &amp; Johnson). An exhaustive combinatorial search requires O(S^|V|) evaluations, which is unacceptable for real-time tactical SDR protocols.</a:t>
            </a:r>
          </a:p>
          <a:p>
            <a:pPr>
              <a:spcBef>
                <a:spcPts val="800"/>
              </a:spcBef>
            </a:pPr>
            <a:r>
              <a:rPr b="1" sz="950">
                <a:solidFill>
                  <a:srgbClr val="0F172A"/>
                </a:solidFill>
              </a:rPr>
              <a:t>Step 1: Conflict Degree Calculation: </a:t>
            </a:r>
            <a:r>
              <a:rPr sz="950">
                <a:solidFill>
                  <a:srgbClr val="64748B"/>
                </a:solidFill>
              </a:rPr>
              <a:t>For every node v in G2, calculate its interference degree deg_G2(v) = |N_G2(v)|. Nodes with the highest degree possess the tightest scheduling constraints.</a:t>
            </a:r>
          </a:p>
          <a:p>
            <a:pPr>
              <a:spcBef>
                <a:spcPts val="800"/>
              </a:spcBef>
            </a:pPr>
            <a:r>
              <a:rPr b="1" sz="950">
                <a:solidFill>
                  <a:srgbClr val="0F172A"/>
                </a:solidFill>
              </a:rPr>
              <a:t>Step 2: Descending Degree Priority Ordering: </a:t>
            </a:r>
            <a:r>
              <a:rPr sz="950">
                <a:solidFill>
                  <a:srgbClr val="64748B"/>
                </a:solidFill>
              </a:rPr>
              <a:t>Sort nodes descending by degree: deg_G2(v1) &gt;= deg_G2(v2) &gt;= ... &gt;= deg_G2(vn). This ensures bottleneck hubs are scheduled first.</a:t>
            </a:r>
          </a:p>
          <a:p>
            <a:pPr>
              <a:spcBef>
                <a:spcPts val="800"/>
              </a:spcBef>
            </a:pPr>
            <a:r>
              <a:rPr b="1" sz="950">
                <a:solidFill>
                  <a:srgbClr val="0F172A"/>
                </a:solidFill>
              </a:rPr>
              <a:t>Step 3: Greedy First-Fit Slot Assignment: </a:t>
            </a:r>
            <a:r>
              <a:rPr sz="950">
                <a:solidFill>
                  <a:srgbClr val="64748B"/>
                </a:solidFill>
              </a:rPr>
              <a:t>For each node v, inspect slots allocated to its neighbors in G2. Assign the smallest available slot index: Slot(v) = min(N_0 \ {Slot(w) : w in N_G2(v)}).</a:t>
            </a:r>
          </a:p>
          <a:p>
            <a:pPr>
              <a:spcBef>
                <a:spcPts val="800"/>
              </a:spcBef>
            </a:pPr>
            <a:r>
              <a:rPr b="1" sz="950">
                <a:solidFill>
                  <a:srgbClr val="0F172A"/>
                </a:solidFill>
              </a:rPr>
              <a:t>Why LDF Outperforms Random Greedy: </a:t>
            </a:r>
            <a:r>
              <a:rPr sz="950">
                <a:solidFill>
                  <a:srgbClr val="64748B"/>
                </a:solidFill>
              </a:rPr>
              <a:t>Scheduling high-degree nodes first prevents them from fragmenting slot allocations late in the process, naturally enabling peripheral low-degree nodes to reuse early slots.</a:t>
            </a:r>
          </a:p>
        </p:txBody>
      </p:sp>
      <p:sp>
        <p:nvSpPr>
          <p:cNvPr id="10" name="Rounded Rectangle 9"/>
          <p:cNvSpPr/>
          <p:nvPr/>
        </p:nvSpPr>
        <p:spPr>
          <a:xfrm>
            <a:off x="7132320" y="1691640"/>
            <a:ext cx="4327855" cy="4526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000" b="1">
                <a:solidFill>
                  <a:srgbClr val="93C5FD"/>
                </a:solidFill>
              </a:defRPr>
            </a:pPr>
            <a:r>
              <a:t>Python Engine Implementation (src/tdma_optimizer.py)</a:t>
            </a:r>
          </a:p>
          <a:p>
            <a:pPr>
              <a:spcBef>
                <a:spcPts val="800"/>
              </a:spcBef>
              <a:defRPr sz="850">
                <a:solidFill>
                  <a:srgbClr val="E2E8F0"/>
                </a:solidFill>
                <a:latin typeface="Consolas"/>
              </a:defRPr>
            </a:pPr>
            <a:r>
              <a:t># 1. Priority sort by degree in G2 (descending)</a:t>
            </a:r>
            <a:br/>
            <a:r>
              <a:t>sorted_nodes = sorted(</a:t>
            </a:r>
            <a:br/>
            <a:r>
              <a:t>    G2.nodes(),</a:t>
            </a:r>
            <a:br/>
            <a:r>
              <a:t>    key=lambda n: G2.degree(n),</a:t>
            </a:r>
            <a:br/>
            <a:r>
              <a:t>    reverse=True</a:t>
            </a:r>
            <a:br/>
            <a:r>
              <a:t>)</a:t>
            </a:r>
            <a:br/>
            <a:br/>
            <a:r>
              <a:t>node_to_slot = {}</a:t>
            </a:r>
            <a:br/>
            <a:r>
              <a:t>for node in sorted_nodes:</a:t>
            </a:r>
            <a:br/>
            <a:r>
              <a:t>    # Identify forbidden neighbor slots in G2</a:t>
            </a:r>
            <a:br/>
            <a:r>
              <a:t>    neighbor_slots = {</a:t>
            </a:r>
            <a:br/>
            <a:r>
              <a:t>        node_to_slot[nbr]</a:t>
            </a:r>
            <a:br/>
            <a:r>
              <a:t>        for nbr in G2.neighbors(node)</a:t>
            </a:r>
            <a:br/>
            <a:r>
              <a:t>        if nbr in node_to_slot</a:t>
            </a:r>
            <a:br/>
            <a:r>
              <a:t>    }</a:t>
            </a:r>
            <a:br/>
            <a:r>
              <a:t>    # Assign smallest available slot (First-Fit)</a:t>
            </a:r>
            <a:br/>
            <a:r>
              <a:t>    slot = 0</a:t>
            </a:r>
            <a:br/>
            <a:r>
              <a:t>    while slot in neighbor_slots:</a:t>
            </a:r>
            <a:br/>
            <a:r>
              <a:t>        slot += 1</a:t>
            </a:r>
            <a:br/>
            <a:r>
              <a:t>    node_to_slot[node] = slot</a:t>
            </a:r>
            <a:br/>
            <a:br/>
            <a:r>
              <a:t># Complexity Analysis:</a:t>
            </a:r>
            <a:br/>
            <a:r>
              <a:t># • Degree Sorting: O(|V| log |V|)</a:t>
            </a:r>
            <a:br/>
            <a:r>
              <a:t># • Neighbor Traversal: O(|E_2|)</a:t>
            </a:r>
            <a:br/>
            <a:r>
              <a:t># • Total Time: O(|V| log |V| + |E_2|) -&gt; &lt; 2ms!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5603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50" b="1">
                <a:solidFill>
                  <a:srgbClr val="2563EB"/>
                </a:solidFill>
              </a:defRPr>
            </a:pPr>
            <a:r>
              <a:t>VERIFICATION &amp; METRICS</a:t>
            </a:r>
          </a:p>
        </p:txBody>
      </p:sp>
      <p:sp>
        <p:nvSpPr>
          <p:cNvPr id="4" name="TextBox 3"/>
          <p:cNvSpPr txBox="1"/>
          <p:nvPr/>
        </p:nvSpPr>
        <p:spPr>
          <a:xfrm>
            <a:off x="731520" y="713232"/>
            <a:ext cx="10698480" cy="502920"/>
          </a:xfrm>
          <a:prstGeom prst="rect">
            <a:avLst/>
          </a:prstGeom>
          <a:noFill/>
        </p:spPr>
        <p:txBody>
          <a:bodyPr wrap="square">
            <a:spAutoFit/>
          </a:bodyPr>
          <a:lstStyle/>
          <a:p>
            <a:pPr>
              <a:defRPr sz="2100" b="1">
                <a:solidFill>
                  <a:srgbClr val="0F172A"/>
                </a:solidFill>
              </a:defRPr>
            </a:pPr>
            <a:r>
              <a:t>Spatial Reuse Quantification &amp; Conflict Verification Engine</a:t>
            </a:r>
          </a:p>
        </p:txBody>
      </p:sp>
      <p:sp>
        <p:nvSpPr>
          <p:cNvPr id="5" name="TextBox 4"/>
          <p:cNvSpPr txBox="1"/>
          <p:nvPr/>
        </p:nvSpPr>
        <p:spPr>
          <a:xfrm>
            <a:off x="731520" y="1207008"/>
            <a:ext cx="10698480" cy="347472"/>
          </a:xfrm>
          <a:prstGeom prst="rect">
            <a:avLst/>
          </a:prstGeom>
          <a:noFill/>
        </p:spPr>
        <p:txBody>
          <a:bodyPr wrap="square">
            <a:spAutoFit/>
          </a:bodyPr>
          <a:lstStyle/>
          <a:p>
            <a:pPr>
              <a:defRPr sz="1100">
                <a:solidFill>
                  <a:srgbClr val="64748B"/>
                </a:solidFill>
              </a:defRPr>
            </a:pPr>
            <a:r>
              <a:t>Validating conflict-free correctness with zero regressions and measuring spectral gain.</a:t>
            </a:r>
          </a:p>
        </p:txBody>
      </p:sp>
      <p:sp>
        <p:nvSpPr>
          <p:cNvPr id="6" name="Rectangle 5"/>
          <p:cNvSpPr/>
          <p:nvPr/>
        </p:nvSpPr>
        <p:spPr>
          <a:xfrm>
            <a:off x="731520" y="64190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55664"/>
            <a:ext cx="8229600" cy="274320"/>
          </a:xfrm>
          <a:prstGeom prst="rect">
            <a:avLst/>
          </a:prstGeom>
          <a:noFill/>
        </p:spPr>
        <p:txBody>
          <a:bodyPr wrap="none">
            <a:spAutoFit/>
          </a:bodyPr>
          <a:lstStyle/>
          <a:p>
            <a:pPr>
              <a:defRPr sz="900">
                <a:solidFill>
                  <a:srgbClr val="64748B"/>
                </a:solidFill>
              </a:defRPr>
            </a:pPr>
            <a:r>
              <a:t>Vaan Megam Networks | TDMA Schedule Planner &amp; Optimizer | Wireless Protocol Development</a:t>
            </a:r>
          </a:p>
        </p:txBody>
      </p:sp>
      <p:sp>
        <p:nvSpPr>
          <p:cNvPr id="8" name="TextBox 7"/>
          <p:cNvSpPr txBox="1"/>
          <p:nvPr/>
        </p:nvSpPr>
        <p:spPr>
          <a:xfrm>
            <a:off x="9631375" y="6455664"/>
            <a:ext cx="1828800" cy="274320"/>
          </a:xfrm>
          <a:prstGeom prst="rect">
            <a:avLst/>
          </a:prstGeom>
          <a:noFill/>
        </p:spPr>
        <p:txBody>
          <a:bodyPr wrap="none">
            <a:spAutoFit/>
          </a:bodyPr>
          <a:lstStyle/>
          <a:p>
            <a:pPr algn="r">
              <a:defRPr sz="900" b="1">
                <a:solidFill>
                  <a:srgbClr val="64748B"/>
                </a:solidFill>
              </a:defRPr>
            </a:pPr>
            <a:r>
              <a:t>6 / 13</a:t>
            </a:r>
          </a:p>
        </p:txBody>
      </p:sp>
      <p:sp>
        <p:nvSpPr>
          <p:cNvPr id="9" name="Rounded Rectangle 8"/>
          <p:cNvSpPr/>
          <p:nvPr/>
        </p:nvSpPr>
        <p:spPr>
          <a:xfrm>
            <a:off x="731520" y="1691640"/>
            <a:ext cx="5212080" cy="45262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10B981"/>
                </a:solidFill>
              </a:defRPr>
            </a:pPr>
            <a:r>
              <a:t>Spatial Reuse Metric &amp; Throughput Gain</a:t>
            </a:r>
          </a:p>
          <a:p>
            <a:pPr>
              <a:spcBef>
                <a:spcPts val="800"/>
              </a:spcBef>
            </a:pPr>
            <a:r>
              <a:rPr b="1" sz="950">
                <a:solidFill>
                  <a:srgbClr val="0F172A"/>
                </a:solidFill>
              </a:rPr>
              <a:t>Theoretical Upper Bound: </a:t>
            </a:r>
            <a:r>
              <a:rPr sz="950">
                <a:solidFill>
                  <a:srgbClr val="64748B"/>
                </a:solidFill>
              </a:rPr>
              <a:t>Without spatial reuse, 16 nodes require 16 dedicated orthogonal time slots (Frame Length = 16ms).</a:t>
            </a:r>
          </a:p>
          <a:p>
            <a:pPr>
              <a:spcBef>
                <a:spcPts val="800"/>
              </a:spcBef>
            </a:pPr>
            <a:r>
              <a:rPr b="1" sz="950">
                <a:solidFill>
                  <a:srgbClr val="0F172A"/>
                </a:solidFill>
              </a:rPr>
              <a:t>Optimized Frame Length: </a:t>
            </a:r>
            <a:r>
              <a:rPr sz="950">
                <a:solidFill>
                  <a:srgbClr val="64748B"/>
                </a:solidFill>
              </a:rPr>
              <a:t>Our LDF heuristic compresses the 16-node schedule into just 9 unique time slots (Frame Length = 9ms).</a:t>
            </a:r>
          </a:p>
          <a:p>
            <a:pPr>
              <a:spcBef>
                <a:spcPts val="800"/>
              </a:spcBef>
            </a:pPr>
            <a:r>
              <a:rPr b="1" sz="950">
                <a:solidFill>
                  <a:srgbClr val="0F172A"/>
                </a:solidFill>
              </a:rPr>
              <a:t>Spatial Reuse Factor (S_R): </a:t>
            </a:r>
            <a:r>
              <a:rPr sz="950">
                <a:solidFill>
                  <a:srgbClr val="64748B"/>
                </a:solidFill>
              </a:rPr>
              <a:t>S_R = |V| / S_total = 16 / 9 = 1.78x aggregate capacity improvement across the network.</a:t>
            </a:r>
          </a:p>
          <a:p>
            <a:pPr>
              <a:spcBef>
                <a:spcPts val="800"/>
              </a:spcBef>
            </a:pPr>
            <a:r>
              <a:rPr b="1" sz="950">
                <a:solidFill>
                  <a:srgbClr val="0F172A"/>
                </a:solidFill>
              </a:rPr>
              <a:t>Quad-Node Concurrency in Slot 8: </a:t>
            </a:r>
            <a:r>
              <a:rPr sz="950">
                <a:solidFill>
                  <a:srgbClr val="64748B"/>
                </a:solidFill>
              </a:rPr>
              <a:t>Nodes N00, N03, N12, and N15 concurrently transmit on Slot 8. Because they occupy the four corners of the grid, their mutual distance exceeds 2 hops (&gt;= 900m), causing ZERO receiver interference.</a:t>
            </a:r>
          </a:p>
          <a:p>
            <a:pPr>
              <a:spcBef>
                <a:spcPts val="800"/>
              </a:spcBef>
            </a:pPr>
            <a:r>
              <a:rPr b="1" sz="950">
                <a:solidFill>
                  <a:srgbClr val="0F172A"/>
                </a:solidFill>
              </a:rPr>
              <a:t>Dual-Node Concurrency in Slots 4-7: </a:t>
            </a:r>
            <a:r>
              <a:rPr sz="950">
                <a:solidFill>
                  <a:srgbClr val="64748B"/>
                </a:solidFill>
              </a:rPr>
              <a:t>Slots 4, 5, 6, and 7 each support 2 concurrent transmissions, boosting spectral efficiency across tactical sub-clusters.</a:t>
            </a:r>
          </a:p>
        </p:txBody>
      </p:sp>
      <p:sp>
        <p:nvSpPr>
          <p:cNvPr id="10" name="Rounded Rectangle 9"/>
          <p:cNvSpPr/>
          <p:nvPr/>
        </p:nvSpPr>
        <p:spPr>
          <a:xfrm>
            <a:off x="6217920" y="1691640"/>
            <a:ext cx="5212080" cy="45262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2563EB"/>
                </a:solidFill>
              </a:defRPr>
            </a:pPr>
            <a:r>
              <a:t>Mathematical Conflict Verification Engine</a:t>
            </a:r>
          </a:p>
          <a:p>
            <a:pPr>
              <a:spcBef>
                <a:spcPts val="800"/>
              </a:spcBef>
            </a:pPr>
            <a:r>
              <a:rPr b="1" sz="950">
                <a:solidFill>
                  <a:srgbClr val="0F172A"/>
                </a:solidFill>
              </a:rPr>
              <a:t>Automated Quality Gate: </a:t>
            </a:r>
            <a:r>
              <a:rPr sz="950">
                <a:solidFill>
                  <a:srgbClr val="64748B"/>
                </a:solidFill>
              </a:rPr>
              <a:t>Implemented verify_schedule(G2, node_to_slot) as a mandatory gatekeeper before output generation or EMANE export.</a:t>
            </a:r>
          </a:p>
          <a:p>
            <a:pPr>
              <a:spcBef>
                <a:spcPts val="800"/>
              </a:spcBef>
            </a:pPr>
            <a:r>
              <a:rPr b="1" sz="950">
                <a:solidFill>
                  <a:srgbClr val="0F172A"/>
                </a:solidFill>
              </a:rPr>
              <a:t>Rigorous Exhaustive Edge Proof: </a:t>
            </a:r>
            <a:r>
              <a:rPr sz="950">
                <a:solidFill>
                  <a:srgbClr val="64748B"/>
                </a:solidFill>
              </a:rPr>
              <a:t>Iterates across all edges (u, v) in E2. If node_to_slot[u] == node_to_slot[v], immediately raises violation.</a:t>
            </a:r>
          </a:p>
          <a:p>
            <a:pPr>
              <a:spcBef>
                <a:spcPts val="800"/>
              </a:spcBef>
            </a:pPr>
            <a:r>
              <a:rPr b="1" sz="950">
                <a:solidFill>
                  <a:srgbClr val="0F172A"/>
                </a:solidFill>
              </a:rPr>
              <a:t>Comprehensive Edge Coverage: </a:t>
            </a:r>
            <a:r>
              <a:rPr sz="950">
                <a:solidFill>
                  <a:srgbClr val="64748B"/>
                </a:solidFill>
              </a:rPr>
              <a:t>Because E2 includes all 1-hop links and all 2-hop paths, a pass confirms 0 direct collisions and 0 hidden terminal collisions.</a:t>
            </a:r>
          </a:p>
          <a:p>
            <a:pPr>
              <a:spcBef>
                <a:spcPts val="800"/>
              </a:spcBef>
            </a:pPr>
            <a:r>
              <a:rPr b="1" sz="950">
                <a:solidFill>
                  <a:srgbClr val="0F172A"/>
                </a:solidFill>
              </a:rPr>
              <a:t>Zero-Tolerance Exit: </a:t>
            </a:r>
            <a:r>
              <a:rPr sz="950">
                <a:solidFill>
                  <a:srgbClr val="64748B"/>
                </a:solidFill>
              </a:rPr>
              <a:t>If verification fails, CLI terminates cleanly with exit code 1 to protect physical SDR hardware from destructive transmissions.</a:t>
            </a:r>
          </a:p>
          <a:p>
            <a:pPr>
              <a:spcBef>
                <a:spcPts val="800"/>
              </a:spcBef>
            </a:pPr>
            <a:r>
              <a:rPr b="1" sz="950">
                <a:solidFill>
                  <a:srgbClr val="0F172A"/>
                </a:solidFill>
              </a:rPr>
              <a:t>Benchmark Result: </a:t>
            </a:r>
            <a:r>
              <a:rPr sz="950">
                <a:solidFill>
                  <a:srgbClr val="64748B"/>
                </a:solidFill>
              </a:rPr>
              <a:t>PASSED: 'Execution finalized cleanly. Schedule verified conflict-free.'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5603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50" b="1">
                <a:solidFill>
                  <a:srgbClr val="2563EB"/>
                </a:solidFill>
              </a:defRPr>
            </a:pPr>
            <a:r>
              <a:t>EXPERIMENTAL RESULTS</a:t>
            </a:r>
          </a:p>
        </p:txBody>
      </p:sp>
      <p:sp>
        <p:nvSpPr>
          <p:cNvPr id="4" name="TextBox 3"/>
          <p:cNvSpPr txBox="1"/>
          <p:nvPr/>
        </p:nvSpPr>
        <p:spPr>
          <a:xfrm>
            <a:off x="731520" y="713232"/>
            <a:ext cx="10698480" cy="502920"/>
          </a:xfrm>
          <a:prstGeom prst="rect">
            <a:avLst/>
          </a:prstGeom>
          <a:noFill/>
        </p:spPr>
        <p:txBody>
          <a:bodyPr wrap="square">
            <a:spAutoFit/>
          </a:bodyPr>
          <a:lstStyle/>
          <a:p>
            <a:pPr>
              <a:defRPr sz="2100" b="1">
                <a:solidFill>
                  <a:srgbClr val="0F172A"/>
                </a:solidFill>
              </a:defRPr>
            </a:pPr>
            <a:r>
              <a:t>16-Node Benchmark: Physical Topology vs. TDMA Slot Assignments</a:t>
            </a:r>
          </a:p>
        </p:txBody>
      </p:sp>
      <p:sp>
        <p:nvSpPr>
          <p:cNvPr id="5" name="TextBox 4"/>
          <p:cNvSpPr txBox="1"/>
          <p:nvPr/>
        </p:nvSpPr>
        <p:spPr>
          <a:xfrm>
            <a:off x="731520" y="1207008"/>
            <a:ext cx="10698480" cy="347472"/>
          </a:xfrm>
          <a:prstGeom prst="rect">
            <a:avLst/>
          </a:prstGeom>
          <a:noFill/>
        </p:spPr>
        <p:txBody>
          <a:bodyPr wrap="square">
            <a:spAutoFit/>
          </a:bodyPr>
          <a:lstStyle/>
          <a:p>
            <a:pPr>
              <a:defRPr sz="1100">
                <a:solidFill>
                  <a:srgbClr val="64748B"/>
                </a:solidFill>
              </a:defRPr>
            </a:pPr>
            <a:r>
              <a:t>Visual demonstration of 4x4 tactical mesh layout (500m radio range) and Distance-2 color distribution.</a:t>
            </a:r>
          </a:p>
        </p:txBody>
      </p:sp>
      <p:sp>
        <p:nvSpPr>
          <p:cNvPr id="6" name="Rectangle 5"/>
          <p:cNvSpPr/>
          <p:nvPr/>
        </p:nvSpPr>
        <p:spPr>
          <a:xfrm>
            <a:off x="731520" y="64190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55664"/>
            <a:ext cx="8229600" cy="274320"/>
          </a:xfrm>
          <a:prstGeom prst="rect">
            <a:avLst/>
          </a:prstGeom>
          <a:noFill/>
        </p:spPr>
        <p:txBody>
          <a:bodyPr wrap="none">
            <a:spAutoFit/>
          </a:bodyPr>
          <a:lstStyle/>
          <a:p>
            <a:pPr>
              <a:defRPr sz="900">
                <a:solidFill>
                  <a:srgbClr val="64748B"/>
                </a:solidFill>
              </a:defRPr>
            </a:pPr>
            <a:r>
              <a:t>Vaan Megam Networks | TDMA Schedule Planner &amp; Optimizer | Wireless Protocol Development</a:t>
            </a:r>
          </a:p>
        </p:txBody>
      </p:sp>
      <p:sp>
        <p:nvSpPr>
          <p:cNvPr id="8" name="TextBox 7"/>
          <p:cNvSpPr txBox="1"/>
          <p:nvPr/>
        </p:nvSpPr>
        <p:spPr>
          <a:xfrm>
            <a:off x="9631375" y="6455664"/>
            <a:ext cx="1828800" cy="274320"/>
          </a:xfrm>
          <a:prstGeom prst="rect">
            <a:avLst/>
          </a:prstGeom>
          <a:noFill/>
        </p:spPr>
        <p:txBody>
          <a:bodyPr wrap="none">
            <a:spAutoFit/>
          </a:bodyPr>
          <a:lstStyle/>
          <a:p>
            <a:pPr algn="r">
              <a:defRPr sz="900" b="1">
                <a:solidFill>
                  <a:srgbClr val="64748B"/>
                </a:solidFill>
              </a:defRPr>
            </a:pPr>
            <a:r>
              <a:t>7 / 13</a:t>
            </a:r>
          </a:p>
        </p:txBody>
      </p:sp>
      <p:pic>
        <p:nvPicPr>
          <p:cNvPr id="9" name="Picture 8" descr="diagram_2_graphs.png"/>
          <p:cNvPicPr>
            <a:picLocks noChangeAspect="1"/>
          </p:cNvPicPr>
          <p:nvPr/>
        </p:nvPicPr>
        <p:blipFill>
          <a:blip r:embed="rId2"/>
          <a:stretch>
            <a:fillRect/>
          </a:stretch>
        </p:blipFill>
        <p:spPr>
          <a:xfrm>
            <a:off x="731520" y="1691640"/>
            <a:ext cx="7498079" cy="3554556"/>
          </a:xfrm>
          <a:prstGeom prst="rect">
            <a:avLst/>
          </a:prstGeom>
        </p:spPr>
      </p:pic>
      <p:sp>
        <p:nvSpPr>
          <p:cNvPr id="10" name="Rounded Rectangle 9"/>
          <p:cNvSpPr/>
          <p:nvPr/>
        </p:nvSpPr>
        <p:spPr>
          <a:xfrm>
            <a:off x="8412480" y="1691640"/>
            <a:ext cx="3047695" cy="45262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a:lstStyle/>
          <a:p>
            <a:pPr algn="ctr">
              <a:defRPr sz="1200" b="1">
                <a:solidFill>
                  <a:srgbClr val="2563EB"/>
                </a:solidFill>
              </a:defRPr>
            </a:pPr>
            <a:r>
              <a:t>Benchmark Topology Specs</a:t>
            </a:r>
          </a:p>
          <a:p>
            <a:pPr>
              <a:spcBef>
                <a:spcPts val="600"/>
              </a:spcBef>
            </a:pPr>
            <a:r>
              <a:rPr b="1" sz="900">
                <a:solidFill>
                  <a:srgbClr val="0F172A"/>
                </a:solidFill>
              </a:rPr>
              <a:t>Grid Geometry: </a:t>
            </a:r>
            <a:r>
              <a:rPr sz="900">
                <a:solidFill>
                  <a:srgbClr val="64748B"/>
                </a:solidFill>
              </a:rPr>
              <a:t>4x4 regular grid over 900m x 900m tactical zone.</a:t>
            </a:r>
          </a:p>
          <a:p>
            <a:pPr>
              <a:spcBef>
                <a:spcPts val="600"/>
              </a:spcBef>
            </a:pPr>
            <a:r>
              <a:rPr b="1" sz="900">
                <a:solidFill>
                  <a:srgbClr val="0F172A"/>
                </a:solidFill>
              </a:rPr>
              <a:t>Node Spacing: </a:t>
            </a:r>
            <a:r>
              <a:rPr sz="900">
                <a:solidFill>
                  <a:srgbClr val="64748B"/>
                </a:solidFill>
              </a:rPr>
              <a:t>300m horizontal and vertical separation.</a:t>
            </a:r>
          </a:p>
          <a:p>
            <a:pPr>
              <a:spcBef>
                <a:spcPts val="600"/>
              </a:spcBef>
            </a:pPr>
            <a:r>
              <a:rPr b="1" sz="900">
                <a:solidFill>
                  <a:srgbClr val="0F172A"/>
                </a:solidFill>
              </a:rPr>
              <a:t>Link Reachability: </a:t>
            </a:r>
            <a:r>
              <a:rPr sz="900">
                <a:solidFill>
                  <a:srgbClr val="64748B"/>
                </a:solidFill>
              </a:rPr>
              <a:t>Adjacent: 300m &lt;= 500m (Valid link)
Diagonal: sqrt(300^2+300^2) = 424.3m &lt;= 500m (Valid link)</a:t>
            </a:r>
          </a:p>
          <a:p>
            <a:pPr>
              <a:spcBef>
                <a:spcPts val="600"/>
              </a:spcBef>
            </a:pPr>
            <a:r>
              <a:rPr b="1" sz="900">
                <a:solidFill>
                  <a:srgbClr val="0F172A"/>
                </a:solidFill>
              </a:rPr>
              <a:t>Total Physical Links: </a:t>
            </a:r>
            <a:r>
              <a:rPr sz="900">
                <a:solidFill>
                  <a:srgbClr val="64748B"/>
                </a:solidFill>
              </a:rPr>
              <a:t>42 bidirectional 1-hop edges in G1.</a:t>
            </a:r>
          </a:p>
          <a:p>
            <a:pPr>
              <a:spcBef>
                <a:spcPts val="600"/>
              </a:spcBef>
            </a:pPr>
            <a:r>
              <a:rPr b="1" sz="900">
                <a:solidFill>
                  <a:srgbClr val="0F172A"/>
                </a:solidFill>
              </a:rPr>
              <a:t>Optimized Slots: </a:t>
            </a:r>
            <a:r>
              <a:rPr sz="900">
                <a:solidFill>
                  <a:srgbClr val="64748B"/>
                </a:solidFill>
              </a:rPr>
              <a:t>9 unique time slots (0 to 8).</a:t>
            </a:r>
          </a:p>
          <a:p>
            <a:pPr>
              <a:spcBef>
                <a:spcPts val="600"/>
              </a:spcBef>
            </a:pPr>
            <a:r>
              <a:rPr b="1" sz="900">
                <a:solidFill>
                  <a:srgbClr val="0F172A"/>
                </a:solidFill>
              </a:rPr>
              <a:t>Spatial Reuse Highlight: </a:t>
            </a:r>
            <a:r>
              <a:rPr sz="900">
                <a:solidFill>
                  <a:srgbClr val="64748B"/>
                </a:solidFill>
              </a:rPr>
              <a:t>Slot 8 shared by N00, N03, N12, N15 (all 4 corners).
Slots 4, 5, 6, 7 shared by 2 nodes each.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5603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50" b="1">
                <a:solidFill>
                  <a:srgbClr val="2563EB"/>
                </a:solidFill>
              </a:defRPr>
            </a:pPr>
            <a:r>
              <a:t>DELIVERABLE EXECUTION</a:t>
            </a:r>
          </a:p>
        </p:txBody>
      </p:sp>
      <p:sp>
        <p:nvSpPr>
          <p:cNvPr id="4" name="TextBox 3"/>
          <p:cNvSpPr txBox="1"/>
          <p:nvPr/>
        </p:nvSpPr>
        <p:spPr>
          <a:xfrm>
            <a:off x="731520" y="713232"/>
            <a:ext cx="10698480" cy="502920"/>
          </a:xfrm>
          <a:prstGeom prst="rect">
            <a:avLst/>
          </a:prstGeom>
          <a:noFill/>
        </p:spPr>
        <p:txBody>
          <a:bodyPr wrap="square">
            <a:spAutoFit/>
          </a:bodyPr>
          <a:lstStyle/>
          <a:p>
            <a:pPr>
              <a:defRPr sz="2100" b="1">
                <a:solidFill>
                  <a:srgbClr val="0F172A"/>
                </a:solidFill>
              </a:defRPr>
            </a:pPr>
            <a:r>
              <a:t>CLI Delivery &amp; Structural Slot x Node Concurrency Heatmap</a:t>
            </a:r>
          </a:p>
        </p:txBody>
      </p:sp>
      <p:sp>
        <p:nvSpPr>
          <p:cNvPr id="5" name="TextBox 4"/>
          <p:cNvSpPr txBox="1"/>
          <p:nvPr/>
        </p:nvSpPr>
        <p:spPr>
          <a:xfrm>
            <a:off x="731520" y="1207008"/>
            <a:ext cx="10698480" cy="347472"/>
          </a:xfrm>
          <a:prstGeom prst="rect">
            <a:avLst/>
          </a:prstGeom>
          <a:noFill/>
        </p:spPr>
        <p:txBody>
          <a:bodyPr wrap="square">
            <a:spAutoFit/>
          </a:bodyPr>
          <a:lstStyle/>
          <a:p>
            <a:pPr>
              <a:defRPr sz="1100">
                <a:solidFill>
                  <a:srgbClr val="64748B"/>
                </a:solidFill>
              </a:defRPr>
            </a:pPr>
            <a:r>
              <a:t>Strict compliance with prompt CLI specification: JSON parsing, ASCII matrix, and concurrency analysis.</a:t>
            </a:r>
          </a:p>
        </p:txBody>
      </p:sp>
      <p:sp>
        <p:nvSpPr>
          <p:cNvPr id="6" name="Rectangle 5"/>
          <p:cNvSpPr/>
          <p:nvPr/>
        </p:nvSpPr>
        <p:spPr>
          <a:xfrm>
            <a:off x="731520" y="64190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55664"/>
            <a:ext cx="8229600" cy="274320"/>
          </a:xfrm>
          <a:prstGeom prst="rect">
            <a:avLst/>
          </a:prstGeom>
          <a:noFill/>
        </p:spPr>
        <p:txBody>
          <a:bodyPr wrap="none">
            <a:spAutoFit/>
          </a:bodyPr>
          <a:lstStyle/>
          <a:p>
            <a:pPr>
              <a:defRPr sz="900">
                <a:solidFill>
                  <a:srgbClr val="64748B"/>
                </a:solidFill>
              </a:defRPr>
            </a:pPr>
            <a:r>
              <a:t>Vaan Megam Networks | TDMA Schedule Planner &amp; Optimizer | Wireless Protocol Development</a:t>
            </a:r>
          </a:p>
        </p:txBody>
      </p:sp>
      <p:sp>
        <p:nvSpPr>
          <p:cNvPr id="8" name="TextBox 7"/>
          <p:cNvSpPr txBox="1"/>
          <p:nvPr/>
        </p:nvSpPr>
        <p:spPr>
          <a:xfrm>
            <a:off x="9631375" y="6455664"/>
            <a:ext cx="1828800" cy="274320"/>
          </a:xfrm>
          <a:prstGeom prst="rect">
            <a:avLst/>
          </a:prstGeom>
          <a:noFill/>
        </p:spPr>
        <p:txBody>
          <a:bodyPr wrap="none">
            <a:spAutoFit/>
          </a:bodyPr>
          <a:lstStyle/>
          <a:p>
            <a:pPr algn="r">
              <a:defRPr sz="900" b="1">
                <a:solidFill>
                  <a:srgbClr val="64748B"/>
                </a:solidFill>
              </a:defRPr>
            </a:pPr>
            <a:r>
              <a:t>8 / 13</a:t>
            </a:r>
          </a:p>
        </p:txBody>
      </p:sp>
      <p:pic>
        <p:nvPicPr>
          <p:cNvPr id="9" name="Picture 8" descr="diagram_3_schedule_matrix.png"/>
          <p:cNvPicPr>
            <a:picLocks noChangeAspect="1"/>
          </p:cNvPicPr>
          <p:nvPr/>
        </p:nvPicPr>
        <p:blipFill>
          <a:blip r:embed="rId2"/>
          <a:stretch>
            <a:fillRect/>
          </a:stretch>
        </p:blipFill>
        <p:spPr>
          <a:xfrm>
            <a:off x="731520" y="1691640"/>
            <a:ext cx="7132320" cy="3069606"/>
          </a:xfrm>
          <a:prstGeom prst="rect">
            <a:avLst/>
          </a:prstGeom>
        </p:spPr>
      </p:pic>
      <p:sp>
        <p:nvSpPr>
          <p:cNvPr id="10" name="Rounded Rectangle 9"/>
          <p:cNvSpPr/>
          <p:nvPr/>
        </p:nvSpPr>
        <p:spPr>
          <a:xfrm>
            <a:off x="8046720" y="1691640"/>
            <a:ext cx="3413455" cy="45262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200" b="1">
                <a:solidFill>
                  <a:srgbClr val="2563EB"/>
                </a:solidFill>
              </a:defRPr>
            </a:pPr>
            <a:r>
              <a:t>Strict CLI Deliverable Compliance</a:t>
            </a:r>
          </a:p>
          <a:p>
            <a:pPr>
              <a:spcBef>
                <a:spcPts val="600"/>
              </a:spcBef>
            </a:pPr>
            <a:r>
              <a:rPr b="1" sz="900">
                <a:solidFill>
                  <a:srgbClr val="0F172A"/>
                </a:solidFill>
              </a:rPr>
              <a:t>Standardized JSON Argument: </a:t>
            </a:r>
            <a:r>
              <a:rPr sz="900">
                <a:solidFill>
                  <a:srgbClr val="64748B"/>
                </a:solidFill>
              </a:rPr>
              <a:t>Accepts coordinates via command line: '{"Node_01":[0.0,0.0], ...}'</a:t>
            </a:r>
          </a:p>
          <a:p>
            <a:pPr>
              <a:spcBef>
                <a:spcPts val="600"/>
              </a:spcBef>
            </a:pPr>
            <a:r>
              <a:rPr b="1" sz="900">
                <a:solidFill>
                  <a:srgbClr val="0F172A"/>
                </a:solidFill>
              </a:rPr>
              <a:t>Ascii Boolean Matrix: </a:t>
            </a:r>
            <a:r>
              <a:rPr sz="900">
                <a:solidFill>
                  <a:srgbClr val="64748B"/>
                </a:solidFill>
              </a:rPr>
              <a:t>Generates formatted Slot x Node binary grid where '1' denotes transmit permission and '0' denotes silence.</a:t>
            </a:r>
          </a:p>
          <a:p>
            <a:pPr>
              <a:spcBef>
                <a:spcPts val="600"/>
              </a:spcBef>
            </a:pPr>
            <a:r>
              <a:rPr b="1" sz="900">
                <a:solidFill>
                  <a:srgbClr val="0F172A"/>
                </a:solidFill>
              </a:rPr>
              <a:t>Direct Node-to-Slot Mapping: </a:t>
            </a:r>
            <a:r>
              <a:rPr sz="900">
                <a:solidFill>
                  <a:srgbClr val="64748B"/>
                </a:solidFill>
              </a:rPr>
              <a:t>Explicit human-readable output of node slot assignments.</a:t>
            </a:r>
          </a:p>
          <a:p>
            <a:pPr>
              <a:spcBef>
                <a:spcPts val="600"/>
              </a:spcBef>
            </a:pPr>
            <a:r>
              <a:rPr b="1" sz="900">
                <a:solidFill>
                  <a:srgbClr val="0F172A"/>
                </a:solidFill>
              </a:rPr>
              <a:t>Reproducible Execution: </a:t>
            </a:r>
            <a:r>
              <a:rPr sz="900">
                <a:solidFill>
                  <a:srgbClr val="64748B"/>
                </a:solidFill>
              </a:rPr>
              <a:t>CLI can be invoked seamlessly via:
python src/tdma_optimizer.py '&lt;JSON&gt;'</a:t>
            </a:r>
          </a:p>
          <a:p>
            <a:pPr>
              <a:spcBef>
                <a:spcPts val="600"/>
              </a:spcBef>
            </a:pPr>
            <a:r>
              <a:rPr b="1" sz="900">
                <a:solidFill>
                  <a:srgbClr val="0F172A"/>
                </a:solidFill>
              </a:rPr>
              <a:t>Clean Exit Codes: </a:t>
            </a:r>
            <a:r>
              <a:rPr sz="900">
                <a:solidFill>
                  <a:srgbClr val="64748B"/>
                </a:solidFill>
              </a:rPr>
              <a:t>Returns exit code 0 on verified conflict-free completion, 1 on JSON syntax or interference failure.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5603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50" b="1">
                <a:solidFill>
                  <a:srgbClr val="2563EB"/>
                </a:solidFill>
              </a:defRPr>
            </a:pPr>
            <a:r>
              <a:t>PART 2: PHYSICAL EMULATION</a:t>
            </a:r>
          </a:p>
        </p:txBody>
      </p:sp>
      <p:sp>
        <p:nvSpPr>
          <p:cNvPr id="4" name="TextBox 3"/>
          <p:cNvSpPr txBox="1"/>
          <p:nvPr/>
        </p:nvSpPr>
        <p:spPr>
          <a:xfrm>
            <a:off x="731520" y="713232"/>
            <a:ext cx="10698480" cy="502920"/>
          </a:xfrm>
          <a:prstGeom prst="rect">
            <a:avLst/>
          </a:prstGeom>
          <a:noFill/>
        </p:spPr>
        <p:txBody>
          <a:bodyPr wrap="square">
            <a:spAutoFit/>
          </a:bodyPr>
          <a:lstStyle/>
          <a:p>
            <a:pPr>
              <a:defRPr sz="2100" b="1">
                <a:solidFill>
                  <a:srgbClr val="0F172A"/>
                </a:solidFill>
              </a:defRPr>
            </a:pPr>
            <a:r>
              <a:t>EMANE TDMA BDCE Radio Model &amp; Linux/Docker Architecture</a:t>
            </a:r>
          </a:p>
        </p:txBody>
      </p:sp>
      <p:sp>
        <p:nvSpPr>
          <p:cNvPr id="5" name="TextBox 4"/>
          <p:cNvSpPr txBox="1"/>
          <p:nvPr/>
        </p:nvSpPr>
        <p:spPr>
          <a:xfrm>
            <a:off x="731520" y="1207008"/>
            <a:ext cx="10698480" cy="347472"/>
          </a:xfrm>
          <a:prstGeom prst="rect">
            <a:avLst/>
          </a:prstGeom>
          <a:noFill/>
        </p:spPr>
        <p:txBody>
          <a:bodyPr wrap="square">
            <a:spAutoFit/>
          </a:bodyPr>
          <a:lstStyle/>
          <a:p>
            <a:pPr>
              <a:defRPr sz="1100">
                <a:solidFill>
                  <a:srgbClr val="64748B"/>
                </a:solidFill>
              </a:defRPr>
            </a:pPr>
            <a:r>
              <a:t>Emulating real-time RF propagation, MAC slot timing, and hardware-accurate packet dropping.</a:t>
            </a:r>
          </a:p>
        </p:txBody>
      </p:sp>
      <p:sp>
        <p:nvSpPr>
          <p:cNvPr id="6" name="Rectangle 5"/>
          <p:cNvSpPr/>
          <p:nvPr/>
        </p:nvSpPr>
        <p:spPr>
          <a:xfrm>
            <a:off x="731520" y="64190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55664"/>
            <a:ext cx="8229600" cy="274320"/>
          </a:xfrm>
          <a:prstGeom prst="rect">
            <a:avLst/>
          </a:prstGeom>
          <a:noFill/>
        </p:spPr>
        <p:txBody>
          <a:bodyPr wrap="none">
            <a:spAutoFit/>
          </a:bodyPr>
          <a:lstStyle/>
          <a:p>
            <a:pPr>
              <a:defRPr sz="900">
                <a:solidFill>
                  <a:srgbClr val="64748B"/>
                </a:solidFill>
              </a:defRPr>
            </a:pPr>
            <a:r>
              <a:t>Vaan Megam Networks | TDMA Schedule Planner &amp; Optimizer | Wireless Protocol Development</a:t>
            </a:r>
          </a:p>
        </p:txBody>
      </p:sp>
      <p:sp>
        <p:nvSpPr>
          <p:cNvPr id="8" name="TextBox 7"/>
          <p:cNvSpPr txBox="1"/>
          <p:nvPr/>
        </p:nvSpPr>
        <p:spPr>
          <a:xfrm>
            <a:off x="9631375" y="6455664"/>
            <a:ext cx="1828800" cy="274320"/>
          </a:xfrm>
          <a:prstGeom prst="rect">
            <a:avLst/>
          </a:prstGeom>
          <a:noFill/>
        </p:spPr>
        <p:txBody>
          <a:bodyPr wrap="none">
            <a:spAutoFit/>
          </a:bodyPr>
          <a:lstStyle/>
          <a:p>
            <a:pPr algn="r">
              <a:defRPr sz="900" b="1">
                <a:solidFill>
                  <a:srgbClr val="64748B"/>
                </a:solidFill>
              </a:defRPr>
            </a:pPr>
            <a:r>
              <a:t>9 / 13</a:t>
            </a:r>
          </a:p>
        </p:txBody>
      </p:sp>
      <p:pic>
        <p:nvPicPr>
          <p:cNvPr id="9" name="Picture 8" descr="diagram_4_emane_architecture.png"/>
          <p:cNvPicPr>
            <a:picLocks noChangeAspect="1"/>
          </p:cNvPicPr>
          <p:nvPr/>
        </p:nvPicPr>
        <p:blipFill>
          <a:blip r:embed="rId2"/>
          <a:stretch>
            <a:fillRect/>
          </a:stretch>
        </p:blipFill>
        <p:spPr>
          <a:xfrm>
            <a:off x="731520" y="1691640"/>
            <a:ext cx="10728655" cy="4097460"/>
          </a:xfrm>
          <a:prstGeom prst="rect">
            <a:avLst/>
          </a:prstGeom>
        </p:spPr>
      </p:pic>
      <p:sp>
        <p:nvSpPr>
          <p:cNvPr id="10" name="Rounded Rectangle 9"/>
          <p:cNvSpPr/>
          <p:nvPr/>
        </p:nvSpPr>
        <p:spPr>
          <a:xfrm>
            <a:off x="731520" y="4663440"/>
            <a:ext cx="3413455" cy="16002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82880" rIns="182880" tIns="164592"/>
          <a:lstStyle/>
          <a:p>
            <a:pPr algn="ctr">
              <a:defRPr sz="1100" b="1">
                <a:solidFill>
                  <a:srgbClr val="2563EB"/>
                </a:solidFill>
              </a:defRPr>
            </a:pPr>
            <a:r>
              <a:t>EMANE Framework &amp; NEMs</a:t>
            </a:r>
          </a:p>
          <a:p>
            <a:pPr>
              <a:lnSpc>
                <a:spcPct val="125000"/>
              </a:lnSpc>
              <a:spcBef>
                <a:spcPts val="400"/>
              </a:spcBef>
              <a:defRPr sz="880">
                <a:solidFill>
                  <a:srgbClr val="0F172A"/>
                </a:solidFill>
              </a:defRPr>
            </a:pPr>
            <a:r>
              <a:t>• Standard US DoD / DARPA tactical wireless emulation tool.</a:t>
            </a:r>
            <a:br/>
            <a:r>
              <a:t>• Each radio is instantiated as a Network Emulation Module (NEM).</a:t>
            </a:r>
            <a:br/>
            <a:r>
              <a:t>• Implements realistic physical-layer path loss, antenna gain, and noise figures.</a:t>
            </a:r>
          </a:p>
        </p:txBody>
      </p:sp>
      <p:sp>
        <p:nvSpPr>
          <p:cNvPr id="11" name="Rounded Rectangle 10"/>
          <p:cNvSpPr/>
          <p:nvPr/>
        </p:nvSpPr>
        <p:spPr>
          <a:xfrm>
            <a:off x="4389120" y="4663440"/>
            <a:ext cx="3413455" cy="16002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82880" rIns="182880" tIns="164592"/>
          <a:lstStyle/>
          <a:p>
            <a:pPr algn="ctr">
              <a:defRPr sz="1100" b="1">
                <a:solidFill>
                  <a:srgbClr val="F59E0B"/>
                </a:solidFill>
              </a:defRPr>
            </a:pPr>
            <a:r>
              <a:t>TDMA Radio Model (BDCE)</a:t>
            </a:r>
          </a:p>
          <a:p>
            <a:pPr>
              <a:lnSpc>
                <a:spcPct val="125000"/>
              </a:lnSpc>
              <a:spcBef>
                <a:spcPts val="400"/>
              </a:spcBef>
              <a:defRPr sz="880">
                <a:solidFill>
                  <a:srgbClr val="0F172A"/>
                </a:solidFill>
              </a:defRPr>
            </a:pPr>
            <a:r>
              <a:t>• BDCE = Basic Discrete Collision Event model.</a:t>
            </a:r>
            <a:br/>
            <a:r>
              <a:t>• Discretizes continuous time into exact microsecond slots.</a:t>
            </a:r>
            <a:br/>
            <a:r>
              <a:t>• Enforces strict packet dropping if a packet arrives on an unauthorized slot or encounters collision.</a:t>
            </a:r>
          </a:p>
        </p:txBody>
      </p:sp>
      <p:sp>
        <p:nvSpPr>
          <p:cNvPr id="12" name="Rounded Rectangle 11"/>
          <p:cNvSpPr/>
          <p:nvPr/>
        </p:nvSpPr>
        <p:spPr>
          <a:xfrm>
            <a:off x="8046720" y="4663440"/>
            <a:ext cx="3413455" cy="160020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82880" rIns="182880" tIns="164592"/>
          <a:lstStyle/>
          <a:p>
            <a:pPr algn="ctr">
              <a:defRPr sz="1100" b="1">
                <a:solidFill>
                  <a:srgbClr val="10B981"/>
                </a:solidFill>
              </a:defRPr>
            </a:pPr>
            <a:r>
              <a:t>Docker / Linux Setup Approach</a:t>
            </a:r>
          </a:p>
          <a:p>
            <a:pPr>
              <a:lnSpc>
                <a:spcPct val="125000"/>
              </a:lnSpc>
              <a:spcBef>
                <a:spcPts val="400"/>
              </a:spcBef>
              <a:defRPr sz="880">
                <a:solidFill>
                  <a:srgbClr val="0F172A"/>
                </a:solidFill>
              </a:defRPr>
            </a:pPr>
            <a:r>
              <a:t>• Single Linux host running consolidated Docker container.</a:t>
            </a:r>
            <a:br/>
            <a:r>
              <a:t>• Virtual network namespaces connect virtual Ethernet (veth) pairs.</a:t>
            </a:r>
            <a:br/>
            <a:r>
              <a:t>• Multicast Over-The-Air (OTA) channel distributes events without requiring physical radio hardware.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5603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50" b="1">
                <a:solidFill>
                  <a:srgbClr val="2563EB"/>
                </a:solidFill>
              </a:defRPr>
            </a:pPr>
            <a:r>
              <a:t>PART 2: INTEGRATION BRIDGE</a:t>
            </a:r>
          </a:p>
        </p:txBody>
      </p:sp>
      <p:sp>
        <p:nvSpPr>
          <p:cNvPr id="4" name="TextBox 3"/>
          <p:cNvSpPr txBox="1"/>
          <p:nvPr/>
        </p:nvSpPr>
        <p:spPr>
          <a:xfrm>
            <a:off x="731520" y="713232"/>
            <a:ext cx="10698480" cy="502920"/>
          </a:xfrm>
          <a:prstGeom prst="rect">
            <a:avLst/>
          </a:prstGeom>
          <a:noFill/>
        </p:spPr>
        <p:txBody>
          <a:bodyPr wrap="square">
            <a:spAutoFit/>
          </a:bodyPr>
          <a:lstStyle/>
          <a:p>
            <a:pPr>
              <a:defRPr sz="2100" b="1">
                <a:solidFill>
                  <a:srgbClr val="0F172A"/>
                </a:solidFill>
              </a:defRPr>
            </a:pPr>
            <a:r>
              <a:t>Automated Translation: Python Schedule to EMANE XML Events</a:t>
            </a:r>
          </a:p>
        </p:txBody>
      </p:sp>
      <p:sp>
        <p:nvSpPr>
          <p:cNvPr id="5" name="TextBox 4"/>
          <p:cNvSpPr txBox="1"/>
          <p:nvPr/>
        </p:nvSpPr>
        <p:spPr>
          <a:xfrm>
            <a:off x="731520" y="1207008"/>
            <a:ext cx="10698480" cy="347472"/>
          </a:xfrm>
          <a:prstGeom prst="rect">
            <a:avLst/>
          </a:prstGeom>
          <a:noFill/>
        </p:spPr>
        <p:txBody>
          <a:bodyPr wrap="square">
            <a:spAutoFit/>
          </a:bodyPr>
          <a:lstStyle/>
          <a:p>
            <a:pPr>
              <a:defRPr sz="1100">
                <a:solidFill>
                  <a:srgbClr val="64748B"/>
                </a:solidFill>
              </a:defRPr>
            </a:pPr>
            <a:r>
              <a:t>Seamless bridge compiling node-to-slot dictionary into tdmascheduleevent.dtd conforming XML.</a:t>
            </a:r>
          </a:p>
        </p:txBody>
      </p:sp>
      <p:sp>
        <p:nvSpPr>
          <p:cNvPr id="6" name="Rectangle 5"/>
          <p:cNvSpPr/>
          <p:nvPr/>
        </p:nvSpPr>
        <p:spPr>
          <a:xfrm>
            <a:off x="731520" y="64190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55664"/>
            <a:ext cx="8229600" cy="274320"/>
          </a:xfrm>
          <a:prstGeom prst="rect">
            <a:avLst/>
          </a:prstGeom>
          <a:noFill/>
        </p:spPr>
        <p:txBody>
          <a:bodyPr wrap="none">
            <a:spAutoFit/>
          </a:bodyPr>
          <a:lstStyle/>
          <a:p>
            <a:pPr>
              <a:defRPr sz="900">
                <a:solidFill>
                  <a:srgbClr val="64748B"/>
                </a:solidFill>
              </a:defRPr>
            </a:pPr>
            <a:r>
              <a:t>Vaan Megam Networks | TDMA Schedule Planner &amp; Optimizer | Wireless Protocol Development</a:t>
            </a:r>
          </a:p>
        </p:txBody>
      </p:sp>
      <p:sp>
        <p:nvSpPr>
          <p:cNvPr id="8" name="TextBox 7"/>
          <p:cNvSpPr txBox="1"/>
          <p:nvPr/>
        </p:nvSpPr>
        <p:spPr>
          <a:xfrm>
            <a:off x="9631375" y="6455664"/>
            <a:ext cx="1828800" cy="274320"/>
          </a:xfrm>
          <a:prstGeom prst="rect">
            <a:avLst/>
          </a:prstGeom>
          <a:noFill/>
        </p:spPr>
        <p:txBody>
          <a:bodyPr wrap="none">
            <a:spAutoFit/>
          </a:bodyPr>
          <a:lstStyle/>
          <a:p>
            <a:pPr algn="r">
              <a:defRPr sz="900" b="1">
                <a:solidFill>
                  <a:srgbClr val="64748B"/>
                </a:solidFill>
              </a:defRPr>
            </a:pPr>
            <a:r>
              <a:t>10 / 13</a:t>
            </a:r>
          </a:p>
        </p:txBody>
      </p:sp>
      <p:sp>
        <p:nvSpPr>
          <p:cNvPr id="9" name="Rounded Rectangle 8"/>
          <p:cNvSpPr/>
          <p:nvPr/>
        </p:nvSpPr>
        <p:spPr>
          <a:xfrm>
            <a:off x="731520" y="1691640"/>
            <a:ext cx="5212080" cy="45262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250" b="1">
                <a:solidFill>
                  <a:srgbClr val="2563EB"/>
                </a:solidFill>
              </a:defRPr>
            </a:pPr>
            <a:r>
              <a:t>Integration Bridge Mechanics (src/emane_bridge.py)</a:t>
            </a:r>
          </a:p>
          <a:p>
            <a:pPr>
              <a:spcBef>
                <a:spcPts val="700"/>
              </a:spcBef>
            </a:pPr>
            <a:r>
              <a:rPr b="1" sz="930">
                <a:solidFill>
                  <a:srgbClr val="0F172A"/>
                </a:solidFill>
              </a:rPr>
              <a:t>Dynamic Input Parsing: </a:t>
            </a:r>
            <a:r>
              <a:rPr sz="930">
                <a:solidFill>
                  <a:srgbClr val="64748B"/>
                </a:solidFill>
              </a:rPr>
              <a:t>Accepts JSON node coordinates via CLI, runs the Brain's optimizer, and verifies the schedule before XML generation.</a:t>
            </a:r>
          </a:p>
          <a:p>
            <a:pPr>
              <a:spcBef>
                <a:spcPts val="700"/>
              </a:spcBef>
            </a:pPr>
            <a:r>
              <a:rPr b="1" sz="930">
                <a:solidFill>
                  <a:srgbClr val="0F172A"/>
                </a:solidFill>
              </a:rPr>
              <a:t>EMANE XML DTD Conformance: </a:t>
            </a:r>
            <a:r>
              <a:rPr sz="930">
                <a:solidFill>
                  <a:srgbClr val="64748B"/>
                </a:solidFill>
              </a:rPr>
              <a:t>Generates valid XML adhering to the official tdmascheduleevent.dtd schema: &lt;!DOCTYPE emaneevent SYSTEM '...'&gt;.</a:t>
            </a:r>
          </a:p>
          <a:p>
            <a:pPr>
              <a:spcBef>
                <a:spcPts val="700"/>
              </a:spcBef>
            </a:pPr>
            <a:r>
              <a:rPr b="1" sz="930">
                <a:solidFill>
                  <a:srgbClr val="0F172A"/>
                </a:solidFill>
              </a:rPr>
              <a:t>Frame &amp; Slot Structure: </a:t>
            </a:r>
            <a:r>
              <a:rPr sz="930">
                <a:solidFill>
                  <a:srgbClr val="64748B"/>
                </a:solidFill>
              </a:rPr>
              <a:t>Configures &lt;structure frames='1' slots='9'&gt;, defining an exact 9-slot repeating TDMA frame.</a:t>
            </a:r>
          </a:p>
          <a:p>
            <a:pPr>
              <a:spcBef>
                <a:spcPts val="700"/>
              </a:spcBef>
            </a:pPr>
            <a:r>
              <a:rPr b="1" sz="930">
                <a:solidFill>
                  <a:srgbClr val="0F172A"/>
                </a:solidFill>
              </a:rPr>
              <a:t>Microsecond Slot Duration: </a:t>
            </a:r>
            <a:r>
              <a:rPr sz="930">
                <a:solidFill>
                  <a:srgbClr val="64748B"/>
                </a:solidFill>
              </a:rPr>
              <a:t>Sets &lt;slot index='0' duration='1000'/&gt;, representing 1000 microseconds (1ms) per slot as mandated by VMN specs.</a:t>
            </a:r>
          </a:p>
          <a:p>
            <a:pPr>
              <a:spcBef>
                <a:spcPts val="700"/>
              </a:spcBef>
            </a:pPr>
            <a:r>
              <a:rPr b="1" sz="930">
                <a:solidFill>
                  <a:srgbClr val="0F172A"/>
                </a:solidFill>
              </a:rPr>
              <a:t>Automated NEM Mapping: </a:t>
            </a:r>
            <a:r>
              <a:rPr sz="930">
                <a:solidFill>
                  <a:srgbClr val="64748B"/>
                </a:solidFill>
              </a:rPr>
              <a:t>Extracts numerical NEM IDs from node names (e.g. 'Node_01' -&gt; nem='1') and writes explicit &lt;tx&gt; and &lt;rx&gt; slot assignments.</a:t>
            </a:r>
          </a:p>
          <a:p>
            <a:pPr>
              <a:spcBef>
                <a:spcPts val="700"/>
              </a:spcBef>
            </a:pPr>
            <a:r>
              <a:rPr b="1" sz="930">
                <a:solidFill>
                  <a:srgbClr val="0F172A"/>
                </a:solidFill>
              </a:rPr>
              <a:t>Zero Manual Intervention: </a:t>
            </a:r>
            <a:r>
              <a:rPr sz="930">
                <a:solidFill>
                  <a:srgbClr val="64748B"/>
                </a:solidFill>
              </a:rPr>
              <a:t>Eliminates error-prone manual XML authoring; fully automated from coordinates to EMANE execution.</a:t>
            </a:r>
          </a:p>
        </p:txBody>
      </p:sp>
      <p:sp>
        <p:nvSpPr>
          <p:cNvPr id="10" name="Rounded Rectangle 9"/>
          <p:cNvSpPr/>
          <p:nvPr/>
        </p:nvSpPr>
        <p:spPr>
          <a:xfrm>
            <a:off x="6217920" y="1691640"/>
            <a:ext cx="5212080" cy="4526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000" b="1">
                <a:solidFill>
                  <a:srgbClr val="93C5FD"/>
                </a:solidFill>
              </a:defRPr>
            </a:pPr>
            <a:r>
              <a:t>Generated XML Profile (config/emane_schedule.xml)</a:t>
            </a:r>
          </a:p>
          <a:p>
            <a:pPr>
              <a:spcBef>
                <a:spcPts val="800"/>
              </a:spcBef>
              <a:defRPr sz="850">
                <a:solidFill>
                  <a:srgbClr val="E2E8F0"/>
                </a:solidFill>
                <a:latin typeface="Consolas"/>
              </a:defRPr>
            </a:pPr>
            <a:r>
              <a:t>&lt;?xml version="1.0" encoding="UTF-8"?&gt;</a:t>
            </a:r>
            <a:br/>
            <a:r>
              <a:t>&lt;!DOCTYPE emaneevent SYSTEM </a:t>
            </a:r>
            <a:br/>
            <a:r>
              <a:t>  "file:///usr/share/emane/dtd/tdmascheduleevent.dtd"&gt;</a:t>
            </a:r>
            <a:br/>
            <a:r>
              <a:t>&lt;emaneevent module="tdmaschedule"&gt;</a:t>
            </a:r>
            <a:br/>
            <a:r>
              <a:t>  &lt;tdmaschedule&gt;</a:t>
            </a:r>
            <a:br/>
            <a:r>
              <a:t>    &lt;structure frames="1" slots="9"&gt;</a:t>
            </a:r>
            <a:br/>
            <a:r>
              <a:t>      &lt;!-- 1ms slot duration = 1000 microseconds --&gt;</a:t>
            </a:r>
            <a:br/>
            <a:r>
              <a:t>      &lt;slot index="0" duration="1000"/&gt;</a:t>
            </a:r>
            <a:br/>
            <a:r>
              <a:t>    &lt;/structure&gt;</a:t>
            </a:r>
            <a:br/>
            <a:r>
              <a:t>    &lt;schedules&gt;</a:t>
            </a:r>
            <a:br/>
            <a:r>
              <a:t>      &lt;entry nem="0"&gt;</a:t>
            </a:r>
            <a:br/>
            <a:r>
              <a:t>        &lt;frequency slot="8" channel="0"/&gt;</a:t>
            </a:r>
            <a:br/>
            <a:r>
              <a:t>        &lt;tx slot="8"/&gt;</a:t>
            </a:r>
            <a:br/>
            <a:r>
              <a:t>        &lt;rx slot="8"/&gt;</a:t>
            </a:r>
            <a:br/>
            <a:r>
              <a:t>      &lt;/entry&gt;</a:t>
            </a:r>
            <a:br/>
            <a:r>
              <a:t>      &lt;entry nem="3"&gt;</a:t>
            </a:r>
            <a:br/>
            <a:r>
              <a:t>        &lt;frequency slot="8" channel="0"/&gt;</a:t>
            </a:r>
            <a:br/>
            <a:r>
              <a:t>        &lt;tx slot="8"/&gt;</a:t>
            </a:r>
            <a:br/>
            <a:r>
              <a:t>        &lt;rx slot="8"/&gt;</a:t>
            </a:r>
            <a:br/>
            <a:r>
              <a:t>      &lt;/entry&gt;</a:t>
            </a:r>
            <a:br/>
            <a:r>
              <a:t>      &lt;!-- Additional NEM schedules ... --&gt;</a:t>
            </a:r>
            <a:br/>
            <a:r>
              <a:t>    &lt;/schedules&gt;</a:t>
            </a:r>
            <a:br/>
            <a:r>
              <a:t>  &lt;/tdmaschedule&gt;</a:t>
            </a:r>
            <a:br/>
            <a:r>
              <a:t>&lt;/emaneevent&gt;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5603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50" b="1">
                <a:solidFill>
                  <a:srgbClr val="2563EB"/>
                </a:solidFill>
              </a:defRPr>
            </a:pPr>
            <a:r>
              <a:t>SYSTEM DESIGN</a:t>
            </a:r>
          </a:p>
        </p:txBody>
      </p:sp>
      <p:sp>
        <p:nvSpPr>
          <p:cNvPr id="4" name="TextBox 3"/>
          <p:cNvSpPr txBox="1"/>
          <p:nvPr/>
        </p:nvSpPr>
        <p:spPr>
          <a:xfrm>
            <a:off x="731520" y="713232"/>
            <a:ext cx="10698480" cy="502920"/>
          </a:xfrm>
          <a:prstGeom prst="rect">
            <a:avLst/>
          </a:prstGeom>
          <a:noFill/>
        </p:spPr>
        <p:txBody>
          <a:bodyPr wrap="square">
            <a:spAutoFit/>
          </a:bodyPr>
          <a:lstStyle/>
          <a:p>
            <a:pPr>
              <a:defRPr sz="2100" b="1">
                <a:solidFill>
                  <a:srgbClr val="0F172A"/>
                </a:solidFill>
              </a:defRPr>
            </a:pPr>
            <a:r>
              <a:t>Engineering Trade-offs &amp; Protocol Design Decisions</a:t>
            </a:r>
          </a:p>
        </p:txBody>
      </p:sp>
      <p:sp>
        <p:nvSpPr>
          <p:cNvPr id="5" name="TextBox 4"/>
          <p:cNvSpPr txBox="1"/>
          <p:nvPr/>
        </p:nvSpPr>
        <p:spPr>
          <a:xfrm>
            <a:off x="731520" y="1207008"/>
            <a:ext cx="10698480" cy="347472"/>
          </a:xfrm>
          <a:prstGeom prst="rect">
            <a:avLst/>
          </a:prstGeom>
          <a:noFill/>
        </p:spPr>
        <p:txBody>
          <a:bodyPr wrap="square">
            <a:spAutoFit/>
          </a:bodyPr>
          <a:lstStyle/>
          <a:p>
            <a:pPr>
              <a:defRPr sz="1100">
                <a:solidFill>
                  <a:srgbClr val="64748B"/>
                </a:solidFill>
              </a:defRPr>
            </a:pPr>
            <a:r>
              <a:t>Evaluating centralized vs. distributed control, latency vs. throughput, and dynamic mobility.</a:t>
            </a:r>
          </a:p>
        </p:txBody>
      </p:sp>
      <p:sp>
        <p:nvSpPr>
          <p:cNvPr id="6" name="Rectangle 5"/>
          <p:cNvSpPr/>
          <p:nvPr/>
        </p:nvSpPr>
        <p:spPr>
          <a:xfrm>
            <a:off x="731520" y="64190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55664"/>
            <a:ext cx="8229600" cy="274320"/>
          </a:xfrm>
          <a:prstGeom prst="rect">
            <a:avLst/>
          </a:prstGeom>
          <a:noFill/>
        </p:spPr>
        <p:txBody>
          <a:bodyPr wrap="none">
            <a:spAutoFit/>
          </a:bodyPr>
          <a:lstStyle/>
          <a:p>
            <a:pPr>
              <a:defRPr sz="900">
                <a:solidFill>
                  <a:srgbClr val="64748B"/>
                </a:solidFill>
              </a:defRPr>
            </a:pPr>
            <a:r>
              <a:t>Vaan Megam Networks | TDMA Schedule Planner &amp; Optimizer | Wireless Protocol Development</a:t>
            </a:r>
          </a:p>
        </p:txBody>
      </p:sp>
      <p:sp>
        <p:nvSpPr>
          <p:cNvPr id="8" name="TextBox 7"/>
          <p:cNvSpPr txBox="1"/>
          <p:nvPr/>
        </p:nvSpPr>
        <p:spPr>
          <a:xfrm>
            <a:off x="9631375" y="6455664"/>
            <a:ext cx="1828800" cy="274320"/>
          </a:xfrm>
          <a:prstGeom prst="rect">
            <a:avLst/>
          </a:prstGeom>
          <a:noFill/>
        </p:spPr>
        <p:txBody>
          <a:bodyPr wrap="none">
            <a:spAutoFit/>
          </a:bodyPr>
          <a:lstStyle/>
          <a:p>
            <a:pPr algn="r">
              <a:defRPr sz="900" b="1">
                <a:solidFill>
                  <a:srgbClr val="64748B"/>
                </a:solidFill>
              </a:defRPr>
            </a:pPr>
            <a:r>
              <a:t>11 / 13</a:t>
            </a:r>
          </a:p>
        </p:txBody>
      </p:sp>
      <p:sp>
        <p:nvSpPr>
          <p:cNvPr id="9" name="Rounded Rectangle 8"/>
          <p:cNvSpPr/>
          <p:nvPr/>
        </p:nvSpPr>
        <p:spPr>
          <a:xfrm>
            <a:off x="731520" y="1691640"/>
            <a:ext cx="5212080" cy="21488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150" b="1">
                <a:solidFill>
                  <a:srgbClr val="2563EB"/>
                </a:solidFill>
              </a:defRPr>
            </a:pPr>
            <a:r>
              <a:t>Centralized vs. Distributed TDMA</a:t>
            </a:r>
          </a:p>
          <a:p>
            <a:pPr>
              <a:lnSpc>
                <a:spcPct val="130000"/>
              </a:lnSpc>
              <a:spcBef>
                <a:spcPts val="600"/>
              </a:spcBef>
              <a:defRPr sz="900">
                <a:solidFill>
                  <a:srgbClr val="0F172A"/>
                </a:solidFill>
              </a:defRPr>
            </a:pPr>
            <a:r>
              <a:t>• Architectural Decision: Centralized coordinator chosen as specified in requirements.</a:t>
            </a:r>
            <a:br/>
            <a:r>
              <a:t>• Rationale: Eliminates control-channel contention, avoids multi-hop consensus overhead, and achieves globally optimized frame lengths.</a:t>
            </a:r>
            <a:br/>
            <a:r>
              <a:t>• Tactical Fit: Ideal for cluster-head architectures (e.g. Airborne UAV relay or tactical command vehicle).</a:t>
            </a:r>
          </a:p>
        </p:txBody>
      </p:sp>
      <p:sp>
        <p:nvSpPr>
          <p:cNvPr id="10" name="Rounded Rectangle 9"/>
          <p:cNvSpPr/>
          <p:nvPr/>
        </p:nvSpPr>
        <p:spPr>
          <a:xfrm>
            <a:off x="6217920" y="1691640"/>
            <a:ext cx="5212080" cy="21488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150" b="1">
                <a:solidFill>
                  <a:srgbClr val="10B981"/>
                </a:solidFill>
              </a:defRPr>
            </a:pPr>
            <a:r>
              <a:t>Slot Duration (1ms) &amp; Latency Trade-offs</a:t>
            </a:r>
          </a:p>
          <a:p>
            <a:pPr>
              <a:lnSpc>
                <a:spcPct val="130000"/>
              </a:lnSpc>
              <a:spcBef>
                <a:spcPts val="600"/>
              </a:spcBef>
              <a:defRPr sz="900">
                <a:solidFill>
                  <a:srgbClr val="0F172A"/>
                </a:solidFill>
              </a:defRPr>
            </a:pPr>
            <a:r>
              <a:t>• Architectural Decision: 1ms slot duration with 9ms repeating frame.</a:t>
            </a:r>
            <a:br/>
            <a:r>
              <a:t>• Rationale: Guarantees deterministic upper-bounded latency (&lt; 9ms jitter), essential for mission-critical tactical voice and telemetry.</a:t>
            </a:r>
            <a:br/>
            <a:r>
              <a:t>• Trade-off: Guard band overhead is kept minimal by tight GPS/PTP synchronization.</a:t>
            </a:r>
          </a:p>
        </p:txBody>
      </p:sp>
      <p:sp>
        <p:nvSpPr>
          <p:cNvPr id="11" name="Rounded Rectangle 10"/>
          <p:cNvSpPr/>
          <p:nvPr/>
        </p:nvSpPr>
        <p:spPr>
          <a:xfrm>
            <a:off x="731520" y="4023360"/>
            <a:ext cx="5212080" cy="214884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150" b="1">
                <a:solidFill>
                  <a:srgbClr val="F59E0B"/>
                </a:solidFill>
              </a:defRPr>
            </a:pPr>
            <a:r>
              <a:t>Heuristic (LDF) vs. Exact ILP Solvers</a:t>
            </a:r>
          </a:p>
          <a:p>
            <a:pPr>
              <a:lnSpc>
                <a:spcPct val="130000"/>
              </a:lnSpc>
              <a:spcBef>
                <a:spcPts val="600"/>
              </a:spcBef>
              <a:defRPr sz="900">
                <a:solidFill>
                  <a:srgbClr val="0F172A"/>
                </a:solidFill>
              </a:defRPr>
            </a:pPr>
            <a:r>
              <a:t>• Architectural Decision: Largest Degree First greedy heuristic over Integer Linear Programming.</a:t>
            </a:r>
            <a:br/>
            <a:r>
              <a:t>• Rationale: ILP is NP-hard with exponential execution time. LDF runs in &lt; 2ms (O(V log V + E)), enabling sub-second dynamic re-planning.</a:t>
            </a:r>
            <a:br/>
            <a:r>
              <a:t>• Trade-off: Achieves near-optimal chromatic number without computational stall.</a:t>
            </a:r>
          </a:p>
        </p:txBody>
      </p:sp>
      <p:sp>
        <p:nvSpPr>
          <p:cNvPr id="12" name="Rounded Rectangle 11"/>
          <p:cNvSpPr/>
          <p:nvPr/>
        </p:nvSpPr>
        <p:spPr>
          <a:xfrm>
            <a:off x="6217920" y="4023360"/>
            <a:ext cx="5212080" cy="21488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150" b="1">
                <a:solidFill>
                  <a:srgbClr val="7C3AED"/>
                </a:solidFill>
              </a:defRPr>
            </a:pPr>
            <a:r>
              <a:t>Dynamic MANET Mobility Handling</a:t>
            </a:r>
          </a:p>
          <a:p>
            <a:pPr>
              <a:lnSpc>
                <a:spcPct val="130000"/>
              </a:lnSpc>
              <a:spcBef>
                <a:spcPts val="600"/>
              </a:spcBef>
              <a:defRPr sz="900">
                <a:solidFill>
                  <a:srgbClr val="0F172A"/>
                </a:solidFill>
              </a:defRPr>
            </a:pPr>
            <a:r>
              <a:t>• Architectural Decision: Periodic topology state beaconing with delta-updates.</a:t>
            </a:r>
            <a:br/>
            <a:r>
              <a:t>• Rationale: Instead of re-coloring the entire network, when radios move, only newly formed 2-hop edges trigger localized slot reassignment.</a:t>
            </a:r>
            <a:br/>
            <a:r>
              <a:t>• Future Roadmap: Integration with distributed USAP or Kempe-chain local recoloring.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5603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50" b="1">
                <a:solidFill>
                  <a:srgbClr val="2563EB"/>
                </a:solidFill>
              </a:defRPr>
            </a:pPr>
            <a:r>
              <a:t>TECHNICAL DEFENSE</a:t>
            </a:r>
          </a:p>
        </p:txBody>
      </p:sp>
      <p:sp>
        <p:nvSpPr>
          <p:cNvPr id="4" name="TextBox 3"/>
          <p:cNvSpPr txBox="1"/>
          <p:nvPr/>
        </p:nvSpPr>
        <p:spPr>
          <a:xfrm>
            <a:off x="731520" y="713232"/>
            <a:ext cx="10698480" cy="502920"/>
          </a:xfrm>
          <a:prstGeom prst="rect">
            <a:avLst/>
          </a:prstGeom>
          <a:noFill/>
        </p:spPr>
        <p:txBody>
          <a:bodyPr wrap="square">
            <a:spAutoFit/>
          </a:bodyPr>
          <a:lstStyle/>
          <a:p>
            <a:pPr>
              <a:defRPr sz="2100" b="1">
                <a:solidFill>
                  <a:srgbClr val="0F172A"/>
                </a:solidFill>
              </a:defRPr>
            </a:pPr>
            <a:r>
              <a:t>Technical Defense &amp; Panel Discussion Preparation</a:t>
            </a:r>
          </a:p>
        </p:txBody>
      </p:sp>
      <p:sp>
        <p:nvSpPr>
          <p:cNvPr id="5" name="TextBox 4"/>
          <p:cNvSpPr txBox="1"/>
          <p:nvPr/>
        </p:nvSpPr>
        <p:spPr>
          <a:xfrm>
            <a:off x="731520" y="1207008"/>
            <a:ext cx="10698480" cy="347472"/>
          </a:xfrm>
          <a:prstGeom prst="rect">
            <a:avLst/>
          </a:prstGeom>
          <a:noFill/>
        </p:spPr>
        <p:txBody>
          <a:bodyPr wrap="square">
            <a:spAutoFit/>
          </a:bodyPr>
          <a:lstStyle/>
          <a:p>
            <a:pPr>
              <a:defRPr sz="1100">
                <a:solidFill>
                  <a:srgbClr val="64748B"/>
                </a:solidFill>
              </a:defRPr>
            </a:pPr>
            <a:r>
              <a:t>Anticipating rigorous technical inquiries from the VMN expert evaluation panel.</a:t>
            </a:r>
          </a:p>
        </p:txBody>
      </p:sp>
      <p:sp>
        <p:nvSpPr>
          <p:cNvPr id="6" name="Rectangle 5"/>
          <p:cNvSpPr/>
          <p:nvPr/>
        </p:nvSpPr>
        <p:spPr>
          <a:xfrm>
            <a:off x="731520" y="64190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55664"/>
            <a:ext cx="8229600" cy="274320"/>
          </a:xfrm>
          <a:prstGeom prst="rect">
            <a:avLst/>
          </a:prstGeom>
          <a:noFill/>
        </p:spPr>
        <p:txBody>
          <a:bodyPr wrap="none">
            <a:spAutoFit/>
          </a:bodyPr>
          <a:lstStyle/>
          <a:p>
            <a:pPr>
              <a:defRPr sz="900">
                <a:solidFill>
                  <a:srgbClr val="64748B"/>
                </a:solidFill>
              </a:defRPr>
            </a:pPr>
            <a:r>
              <a:t>Vaan Megam Networks | TDMA Schedule Planner &amp; Optimizer | Wireless Protocol Development</a:t>
            </a:r>
          </a:p>
        </p:txBody>
      </p:sp>
      <p:sp>
        <p:nvSpPr>
          <p:cNvPr id="8" name="TextBox 7"/>
          <p:cNvSpPr txBox="1"/>
          <p:nvPr/>
        </p:nvSpPr>
        <p:spPr>
          <a:xfrm>
            <a:off x="9631375" y="6455664"/>
            <a:ext cx="1828800" cy="274320"/>
          </a:xfrm>
          <a:prstGeom prst="rect">
            <a:avLst/>
          </a:prstGeom>
          <a:noFill/>
        </p:spPr>
        <p:txBody>
          <a:bodyPr wrap="none">
            <a:spAutoFit/>
          </a:bodyPr>
          <a:lstStyle/>
          <a:p>
            <a:pPr algn="r">
              <a:defRPr sz="900" b="1">
                <a:solidFill>
                  <a:srgbClr val="64748B"/>
                </a:solidFill>
              </a:defRPr>
            </a:pPr>
            <a:r>
              <a:t>12 / 13</a:t>
            </a:r>
          </a:p>
        </p:txBody>
      </p:sp>
      <p:sp>
        <p:nvSpPr>
          <p:cNvPr id="9" name="Rounded Rectangle 8"/>
          <p:cNvSpPr/>
          <p:nvPr/>
        </p:nvSpPr>
        <p:spPr>
          <a:xfrm>
            <a:off x="731520" y="1691640"/>
            <a:ext cx="10728655" cy="1417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28600" rIns="228600" tIns="137160"/>
          <a:lstStyle/>
          <a:p>
            <a:pPr algn="ctr">
              <a:defRPr sz="1100" b="1">
                <a:solidFill>
                  <a:srgbClr val="2563EB"/>
                </a:solidFill>
              </a:defRPr>
            </a:pPr>
            <a:r>
              <a:t>Q1: 'Why is Distance-2 graph coloring sufficient? What about Distance-3 interference?'</a:t>
            </a:r>
          </a:p>
          <a:p>
            <a:pPr>
              <a:lnSpc>
                <a:spcPct val="125000"/>
              </a:lnSpc>
              <a:spcBef>
                <a:spcPts val="400"/>
              </a:spcBef>
              <a:defRPr sz="880">
                <a:solidFill>
                  <a:srgbClr val="0F172A"/>
                </a:solidFill>
              </a:defRPr>
            </a:pPr>
            <a:r>
              <a:t>Defense Explanation:</a:t>
            </a:r>
            <a:br/>
            <a:r>
              <a:t>• Distance-2 coloring eliminates all topological receiver collisions: direct transmission collisions and hidden terminal collisions.</a:t>
            </a:r>
            <a:br/>
            <a:r>
              <a:t>• Distance-3 radios do not cause direct protocol collisions; their signals act merely as background thermal noise / cumulative interference.</a:t>
            </a:r>
            <a:br/>
            <a:r>
              <a:t>• In EMANE, physical propagation models (Two-Ray Ground / Free Space) calculate the SINR (Signal-to-Interference-Plus-Noise Ratio). If aggregate interference from distant nodes exceeds threshold, EMANE drops the packet naturally at PHY layer.</a:t>
            </a:r>
          </a:p>
        </p:txBody>
      </p:sp>
      <p:sp>
        <p:nvSpPr>
          <p:cNvPr id="10" name="Rounded Rectangle 9"/>
          <p:cNvSpPr/>
          <p:nvPr/>
        </p:nvSpPr>
        <p:spPr>
          <a:xfrm>
            <a:off x="731520" y="3246120"/>
            <a:ext cx="10728655" cy="141732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137160"/>
          <a:lstStyle/>
          <a:p>
            <a:pPr algn="ctr">
              <a:defRPr sz="1100" b="1">
                <a:solidFill>
                  <a:srgbClr val="F59E0B"/>
                </a:solidFill>
              </a:defRPr>
            </a:pPr>
            <a:r>
              <a:t>Q2: 'What happens when two mobile nodes move into 2-hop range of an active slot?'</a:t>
            </a:r>
          </a:p>
          <a:p>
            <a:pPr>
              <a:lnSpc>
                <a:spcPct val="125000"/>
              </a:lnSpc>
              <a:spcBef>
                <a:spcPts val="400"/>
              </a:spcBef>
              <a:defRPr sz="880">
                <a:solidFill>
                  <a:srgbClr val="0F172A"/>
                </a:solidFill>
              </a:defRPr>
            </a:pPr>
            <a:r>
              <a:t>Defense Explanation:</a:t>
            </a:r>
            <a:br/>
            <a:r>
              <a:t>• This creates a dynamic collision condition. In our production architecture, each radio periodically broadcasts GPS/neighbor heartbeats.</a:t>
            </a:r>
            <a:br/>
            <a:r>
              <a:t>• When the Centralized Brain detects a newly added edge (u, v) in G2 where Slot(u) == Slot(v), it executes a localized slot migration.</a:t>
            </a:r>
            <a:br/>
            <a:r>
              <a:t>• The lower-degree node is reassigned to an available reserve slot or Kempe chain, preserving ongoing traffic without interrupting the entire network.</a:t>
            </a:r>
          </a:p>
        </p:txBody>
      </p:sp>
      <p:sp>
        <p:nvSpPr>
          <p:cNvPr id="11" name="Rounded Rectangle 10"/>
          <p:cNvSpPr/>
          <p:nvPr/>
        </p:nvSpPr>
        <p:spPr>
          <a:xfrm>
            <a:off x="731520" y="4800600"/>
            <a:ext cx="10728655" cy="141732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28600" rIns="228600" tIns="137160"/>
          <a:lstStyle/>
          <a:p>
            <a:pPr algn="ctr">
              <a:defRPr sz="1100" b="1">
                <a:solidFill>
                  <a:srgbClr val="10B981"/>
                </a:solidFill>
              </a:defRPr>
            </a:pPr>
            <a:r>
              <a:t>Q3: 'How does this work align with VMN's mission in 5G Private Networks &amp; SDR?'</a:t>
            </a:r>
          </a:p>
          <a:p>
            <a:pPr>
              <a:lnSpc>
                <a:spcPct val="125000"/>
              </a:lnSpc>
              <a:spcBef>
                <a:spcPts val="400"/>
              </a:spcBef>
              <a:defRPr sz="880">
                <a:solidFill>
                  <a:srgbClr val="0F172A"/>
                </a:solidFill>
              </a:defRPr>
            </a:pPr>
            <a:r>
              <a:t>Defense Explanation:</a:t>
            </a:r>
            <a:br/>
            <a:r>
              <a:t>• VMN builds tactical SDR, 5G Private Networks, and NTN communication systems for defense and critical infrastructure.</a:t>
            </a:r>
            <a:br/>
            <a:r>
              <a:t>• In tactical MANET (e.g. squad radios, airborne drones), deterministic TDMA scheduling provides collision-free guarantees where standard 3GPP cellular networks cannot deploy.</a:t>
            </a:r>
            <a:br/>
            <a:r>
              <a:t>• In 5G Sidelink (PC5 Mode 2) and NTN satellite constellations, Distance-2 spatial reuse optimizes spectrum utilization across vast geographical zones.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560320" cy="292608"/>
          </a:xfrm>
          <a:prstGeom prst="roundRect">
            <a:avLst/>
          </a:prstGeom>
          <a:solidFill>
            <a:srgbClr val="1E3A8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50" b="1">
                <a:solidFill>
                  <a:srgbClr val="93C5FD"/>
                </a:solidFill>
              </a:defRPr>
            </a:pPr>
            <a:r>
              <a:t>CONCLUSION &amp; DELIVERABLES</a:t>
            </a:r>
          </a:p>
        </p:txBody>
      </p:sp>
      <p:sp>
        <p:nvSpPr>
          <p:cNvPr id="4" name="TextBox 3"/>
          <p:cNvSpPr txBox="1"/>
          <p:nvPr/>
        </p:nvSpPr>
        <p:spPr>
          <a:xfrm>
            <a:off x="731520" y="713232"/>
            <a:ext cx="10698480" cy="502920"/>
          </a:xfrm>
          <a:prstGeom prst="rect">
            <a:avLst/>
          </a:prstGeom>
          <a:noFill/>
        </p:spPr>
        <p:txBody>
          <a:bodyPr wrap="square">
            <a:spAutoFit/>
          </a:bodyPr>
          <a:lstStyle/>
          <a:p>
            <a:pPr>
              <a:defRPr sz="2100" b="1">
                <a:solidFill>
                  <a:srgbClr val="FFFFFF"/>
                </a:solidFill>
              </a:defRPr>
            </a:pPr>
            <a:r>
              <a:t>Project Summary: Ready for Deployment &amp; Defense</a:t>
            </a:r>
          </a:p>
        </p:txBody>
      </p:sp>
      <p:sp>
        <p:nvSpPr>
          <p:cNvPr id="5" name="TextBox 4"/>
          <p:cNvSpPr txBox="1"/>
          <p:nvPr/>
        </p:nvSpPr>
        <p:spPr>
          <a:xfrm>
            <a:off x="731520" y="1207008"/>
            <a:ext cx="10698480" cy="347472"/>
          </a:xfrm>
          <a:prstGeom prst="rect">
            <a:avLst/>
          </a:prstGeom>
          <a:noFill/>
        </p:spPr>
        <p:txBody>
          <a:bodyPr wrap="square">
            <a:spAutoFit/>
          </a:bodyPr>
          <a:lstStyle/>
          <a:p>
            <a:pPr>
              <a:defRPr sz="1100">
                <a:solidFill>
                  <a:srgbClr val="94A3B8"/>
                </a:solidFill>
              </a:defRPr>
            </a:pPr>
            <a:r>
              <a:t>Complete submission package fulfilling Part 1 mandatory tasks, Part 2 bonus emulation, and strict PDF guidelines.</a:t>
            </a:r>
          </a:p>
        </p:txBody>
      </p:sp>
      <p:sp>
        <p:nvSpPr>
          <p:cNvPr id="6" name="Rectangle 5"/>
          <p:cNvSpPr/>
          <p:nvPr/>
        </p:nvSpPr>
        <p:spPr>
          <a:xfrm>
            <a:off x="731520" y="641908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55664"/>
            <a:ext cx="8229600" cy="274320"/>
          </a:xfrm>
          <a:prstGeom prst="rect">
            <a:avLst/>
          </a:prstGeom>
          <a:noFill/>
        </p:spPr>
        <p:txBody>
          <a:bodyPr wrap="none">
            <a:spAutoFit/>
          </a:bodyPr>
          <a:lstStyle/>
          <a:p>
            <a:pPr>
              <a:defRPr sz="900">
                <a:solidFill>
                  <a:srgbClr val="94A3B8"/>
                </a:solidFill>
              </a:defRPr>
            </a:pPr>
            <a:r>
              <a:t>Vaan Megam Networks | TDMA Schedule Planner &amp; Optimizer | Wireless Protocol Development</a:t>
            </a:r>
          </a:p>
        </p:txBody>
      </p:sp>
      <p:sp>
        <p:nvSpPr>
          <p:cNvPr id="8" name="TextBox 7"/>
          <p:cNvSpPr txBox="1"/>
          <p:nvPr/>
        </p:nvSpPr>
        <p:spPr>
          <a:xfrm>
            <a:off x="9631375" y="6455664"/>
            <a:ext cx="1828800" cy="274320"/>
          </a:xfrm>
          <a:prstGeom prst="rect">
            <a:avLst/>
          </a:prstGeom>
          <a:noFill/>
        </p:spPr>
        <p:txBody>
          <a:bodyPr wrap="none">
            <a:spAutoFit/>
          </a:bodyPr>
          <a:lstStyle/>
          <a:p>
            <a:pPr algn="r">
              <a:defRPr sz="900" b="1">
                <a:solidFill>
                  <a:srgbClr val="94A3B8"/>
                </a:solidFill>
              </a:defRPr>
            </a:pPr>
            <a:r>
              <a:t>13 / 13</a:t>
            </a:r>
          </a:p>
        </p:txBody>
      </p:sp>
      <p:sp>
        <p:nvSpPr>
          <p:cNvPr id="9" name="Rounded Rectangle 8"/>
          <p:cNvSpPr/>
          <p:nvPr/>
        </p:nvSpPr>
        <p:spPr>
          <a:xfrm>
            <a:off x="731520" y="1691640"/>
            <a:ext cx="3413455" cy="393192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200" b="1">
                <a:solidFill>
                  <a:srgbClr val="2563EB"/>
                </a:solidFill>
              </a:defRPr>
            </a:pPr>
            <a:r>
              <a:t>Part 1: Network Brain Delivered</a:t>
            </a:r>
          </a:p>
          <a:p>
            <a:pPr>
              <a:lnSpc>
                <a:spcPct val="135000"/>
              </a:lnSpc>
              <a:spcBef>
                <a:spcPts val="1000"/>
              </a:spcBef>
              <a:defRPr sz="950">
                <a:solidFill>
                  <a:srgbClr val="E2E8F0"/>
                </a:solidFill>
              </a:defRPr>
            </a:pPr>
            <a:r>
              <a:t>• Python engine (src/tdma_optimizer.py)</a:t>
            </a:r>
            <a:br/>
            <a:r>
              <a:t>• NetworkX 500m topology modeling</a:t>
            </a:r>
            <a:br/>
            <a:r>
              <a:t>• Distance-2 conflict graph (G2 = G1^2)</a:t>
            </a:r>
            <a:br/>
            <a:r>
              <a:t>• Largest Degree First (LDF) heuristic</a:t>
            </a:r>
            <a:br/>
            <a:r>
              <a:t>• 100% collision-free verification</a:t>
            </a:r>
            <a:br/>
            <a:r>
              <a:t>• Formatted Slot x Node boolean matrix</a:t>
            </a:r>
            <a:br/>
            <a:r>
              <a:t>• Standardized JSON CLI argument handling</a:t>
            </a:r>
          </a:p>
        </p:txBody>
      </p:sp>
      <p:sp>
        <p:nvSpPr>
          <p:cNvPr id="10" name="Rounded Rectangle 9"/>
          <p:cNvSpPr/>
          <p:nvPr/>
        </p:nvSpPr>
        <p:spPr>
          <a:xfrm>
            <a:off x="4389120" y="1691640"/>
            <a:ext cx="3413455" cy="39319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200" b="1">
                <a:solidFill>
                  <a:srgbClr val="F59E0B"/>
                </a:solidFill>
              </a:defRPr>
            </a:pPr>
            <a:r>
              <a:t>Part 2: EMANE Emulator Delivered</a:t>
            </a:r>
          </a:p>
          <a:p>
            <a:pPr>
              <a:lnSpc>
                <a:spcPct val="135000"/>
              </a:lnSpc>
              <a:spcBef>
                <a:spcPts val="1000"/>
              </a:spcBef>
              <a:defRPr sz="950">
                <a:solidFill>
                  <a:srgbClr val="E2E8F0"/>
                </a:solidFill>
              </a:defRPr>
            </a:pPr>
            <a:r>
              <a:t>• Automated bridge (src/emane_bridge.py)</a:t>
            </a:r>
            <a:br/>
            <a:r>
              <a:t>• Native XML profile (config/emane_schedule.xml)</a:t>
            </a:r>
            <a:br/>
            <a:r>
              <a:t>• 1ms slot duration (1000us) configuration</a:t>
            </a:r>
            <a:br/>
            <a:r>
              <a:t>• TDMA BDCE radio model integration</a:t>
            </a:r>
            <a:br/>
            <a:r>
              <a:t>• Containerized Linux/Docker deployment plan</a:t>
            </a:r>
            <a:br/>
            <a:r>
              <a:t>• Hardware-accurate MAC packet filtering</a:t>
            </a:r>
            <a:br/>
            <a:r>
              <a:t>• Reproducible end-to-end pipeline</a:t>
            </a:r>
          </a:p>
        </p:txBody>
      </p:sp>
      <p:sp>
        <p:nvSpPr>
          <p:cNvPr id="11" name="Rounded Rectangle 10"/>
          <p:cNvSpPr/>
          <p:nvPr/>
        </p:nvSpPr>
        <p:spPr>
          <a:xfrm>
            <a:off x="8046720" y="1691640"/>
            <a:ext cx="3413455" cy="3931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200" b="1">
                <a:solidFill>
                  <a:srgbClr val="10B981"/>
                </a:solidFill>
              </a:defRPr>
            </a:pPr>
            <a:r>
              <a:t>Repository &amp; Defense Ready</a:t>
            </a:r>
          </a:p>
          <a:p>
            <a:pPr>
              <a:lnSpc>
                <a:spcPct val="135000"/>
              </a:lnSpc>
              <a:spcBef>
                <a:spcPts val="1000"/>
              </a:spcBef>
              <a:defRPr sz="950">
                <a:solidFill>
                  <a:srgbClr val="E2E8F0"/>
                </a:solidFill>
              </a:defRPr>
            </a:pPr>
            <a:r>
              <a:t>• Git Version Controlled Repository</a:t>
            </a:r>
            <a:br/>
            <a:r>
              <a:t>• Modular source code structure (/src)</a:t>
            </a:r>
            <a:br/>
            <a:r>
              <a:t>• Generated EMANE profiles (/config)</a:t>
            </a:r>
            <a:br/>
            <a:r>
              <a:t>• Comprehensive Technical PDF Report (/docs)</a:t>
            </a:r>
            <a:br/>
            <a:r>
              <a:t>• Professional 16:9 Presentation Deck (/presentation)</a:t>
            </a:r>
            <a:br/>
            <a:r>
              <a:t>• Detailed speaker notes on all 13 slides</a:t>
            </a:r>
            <a:br/>
            <a:r>
              <a:t>• Ready for live demonstration and panel Q&amp;A</a:t>
            </a:r>
          </a:p>
        </p:txBody>
      </p:sp>
      <p:sp>
        <p:nvSpPr>
          <p:cNvPr id="12" name="TextBox 11"/>
          <p:cNvSpPr txBox="1"/>
          <p:nvPr/>
        </p:nvSpPr>
        <p:spPr>
          <a:xfrm>
            <a:off x="731520" y="5806440"/>
            <a:ext cx="10728655" cy="502920"/>
          </a:xfrm>
          <a:prstGeom prst="rect">
            <a:avLst/>
          </a:prstGeom>
          <a:noFill/>
        </p:spPr>
        <p:txBody>
          <a:bodyPr wrap="none">
            <a:spAutoFit/>
          </a:bodyPr>
          <a:lstStyle/>
          <a:p>
            <a:pPr algn="ctr">
              <a:defRPr sz="1300" b="1">
                <a:solidFill>
                  <a:srgbClr val="93C5FD"/>
                </a:solidFill>
              </a:defRPr>
            </a:pPr>
            <a:r>
              <a:t>Thank You! Ready for Live Demo &amp; Technical Discussion with the Vaan Megam Networks Panel.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